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62" r:id="rId24"/>
    <p:sldId id="257" r:id="rId7"/>
    <p:sldId id="258" r:id="rId8"/>
    <p:sldId id="259" r:id="rId9"/>
    <p:sldId id="260" r:id="rId10"/>
    <p:sldId id="261" r:id="rId11"/>
  </p:sldIdLst>
  <p:sldSz cy="6858000" cx="12191675"/>
  <p:notesSz cx="6858000" cy="12191675"/>
  <p:embeddedFontLst>
    <p:embeddedFont>
      <p:font typeface="Nunito Sans ExtraLight"/>
      <p:regular r:id="rId12"/>
      <p:bold r:id="rId13"/>
      <p:italic r:id="rId14"/>
      <p:boldItalic r:id="rId15"/>
    </p:embeddedFont>
    <p:embeddedFont>
      <p:font typeface="Nunito Sans"/>
      <p:regular r:id="rId16"/>
      <p:bold r:id="rId17"/>
      <p:italic r:id="rId18"/>
      <p:boldItalic r:id="rId19"/>
    </p:embeddedFont>
    <p:embeddedFont>
      <p:font typeface="Century Gothic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0389E60-60E0-4264-9417-D492CEFA458D}">
  <a:tblStyle styleId="{40389E60-60E0-4264-9417-D492CEFA458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font" Target="fonts/NunitoSansExtraLight-regular.fntdata"/><Relationship Id="rId13" Type="http://schemas.openxmlformats.org/officeDocument/2006/relationships/font" Target="fonts/NunitoSansExtraLight-bold.fntdata"/><Relationship Id="rId14" Type="http://schemas.openxmlformats.org/officeDocument/2006/relationships/font" Target="fonts/NunitoSansExtraLight-italic.fntdata"/><Relationship Id="rId15" Type="http://schemas.openxmlformats.org/officeDocument/2006/relationships/font" Target="fonts/NunitoSansExtraLight-boldItalic.fntdata"/><Relationship Id="rId16" Type="http://schemas.openxmlformats.org/officeDocument/2006/relationships/font" Target="fonts/NunitoSans-regular.fntdata"/><Relationship Id="rId17" Type="http://schemas.openxmlformats.org/officeDocument/2006/relationships/font" Target="fonts/NunitoSans-bold.fntdata"/><Relationship Id="rId18" Type="http://schemas.openxmlformats.org/officeDocument/2006/relationships/font" Target="fonts/NunitoSans-italic.fntdata"/><Relationship Id="rId19" Type="http://schemas.openxmlformats.org/officeDocument/2006/relationships/font" Target="fonts/NunitoSans-boldItalic.fntdata"/><Relationship Id="rId20" Type="http://schemas.openxmlformats.org/officeDocument/2006/relationships/font" Target="fonts/CenturyGothic-regular.fntdata"/><Relationship Id="rId21" Type="http://schemas.openxmlformats.org/officeDocument/2006/relationships/font" Target="fonts/CenturyGothic-bold.fntdata"/><Relationship Id="rId22" Type="http://schemas.openxmlformats.org/officeDocument/2006/relationships/font" Target="fonts/CenturyGothic-italic.fntdata"/><Relationship Id="rId23" Type="http://schemas.openxmlformats.org/officeDocument/2006/relationships/font" Target="fonts/CenturyGothic-boldItalic.fntdata"/><Relationship Id="rId2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ed6994448e_0_0:notes"/>
          <p:cNvSpPr txBox="1"/>
          <p:nvPr>
            <p:ph idx="1" type="body"/>
          </p:nvPr>
        </p:nvSpPr>
        <p:spPr>
          <a:xfrm>
            <a:off x="685800" y="5867244"/>
            <a:ext cx="5486400" cy="48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g3ed6994448e_0_0:notes"/>
          <p:cNvSpPr/>
          <p:nvPr>
            <p:ph idx="2" type="sldImg"/>
          </p:nvPr>
        </p:nvSpPr>
        <p:spPr>
          <a:xfrm>
            <a:off x="685876" y="1523959"/>
            <a:ext cx="54864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0" y="5574341"/>
            <a:ext cx="12191700" cy="1283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7400" lIns="94800" spcFirstLastPara="1" rIns="94800" wrap="square" tIns="47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3"/>
          <p:cNvSpPr txBox="1"/>
          <p:nvPr>
            <p:ph type="ctrTitle"/>
          </p:nvPr>
        </p:nvSpPr>
        <p:spPr>
          <a:xfrm>
            <a:off x="1523959" y="1122363"/>
            <a:ext cx="91437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7400" lIns="94800" spcFirstLastPara="1" rIns="94800" wrap="square" tIns="474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6200"/>
              <a:buFont typeface="Nunito Sans ExtraLight"/>
              <a:buChar char="●"/>
              <a:defRPr sz="6200">
                <a:solidFill>
                  <a:srgbClr val="BF9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1523959" y="3602038"/>
            <a:ext cx="91437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7400" lIns="94800" spcFirstLastPara="1" rIns="94800" wrap="square" tIns="474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6000"/>
              </a:buClr>
              <a:buSzPts val="2500"/>
              <a:buNone/>
              <a:defRPr sz="2500">
                <a:solidFill>
                  <a:srgbClr val="7F6000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/>
            </a:lvl9pPr>
          </a:lstStyle>
          <a:p/>
        </p:txBody>
      </p:sp>
      <p:sp>
        <p:nvSpPr>
          <p:cNvPr id="15" name="Google Shape;15;p3"/>
          <p:cNvSpPr/>
          <p:nvPr/>
        </p:nvSpPr>
        <p:spPr>
          <a:xfrm>
            <a:off x="0" y="5528622"/>
            <a:ext cx="12191700" cy="45600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txBody>
          <a:bodyPr anchorCtr="0" anchor="ctr" bIns="47400" lIns="94800" spcFirstLastPara="1" rIns="94800" wrap="square" tIns="47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Google Shape;16;p3" title="WF_icon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83578" y="5618338"/>
            <a:ext cx="1462058" cy="1076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ctrTitle"/>
          </p:nvPr>
        </p:nvSpPr>
        <p:spPr>
          <a:xfrm>
            <a:off x="1523959" y="349365"/>
            <a:ext cx="91437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7400" lIns="94800" spcFirstLastPara="1" rIns="94800" wrap="square" tIns="474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7E38"/>
              </a:buClr>
              <a:buSzPts val="4100"/>
              <a:buFont typeface="Nunito Sans ExtraLight"/>
              <a:buNone/>
            </a:pPr>
            <a:r>
              <a:rPr lang="en-US" sz="4100">
                <a:solidFill>
                  <a:srgbClr val="9E7E38"/>
                </a:solidFill>
              </a:rPr>
              <a:t>&lt;INSERT NAME OF PROJECT&gt;</a:t>
            </a:r>
            <a:endParaRPr sz="4100"/>
          </a:p>
        </p:txBody>
      </p:sp>
      <p:sp>
        <p:nvSpPr>
          <p:cNvPr id="22" name="Google Shape;22;p4"/>
          <p:cNvSpPr txBox="1"/>
          <p:nvPr/>
        </p:nvSpPr>
        <p:spPr>
          <a:xfrm>
            <a:off x="1523959" y="5062441"/>
            <a:ext cx="8317500" cy="3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7400" lIns="94800" spcFirstLastPara="1" rIns="94800" wrap="square" tIns="47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7F6000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rPr>
              <a:t>Month Year</a:t>
            </a:r>
            <a:endParaRPr b="0" i="0" sz="1900" u="none" cap="none" strike="noStrike">
              <a:solidFill>
                <a:schemeClr val="dk1"/>
              </a:solidFill>
              <a:latin typeface="Nunito Sans ExtraLight"/>
              <a:ea typeface="Nunito Sans ExtraLight"/>
              <a:cs typeface="Nunito Sans ExtraLight"/>
              <a:sym typeface="Nunito Sans ExtraLight"/>
            </a:endParaRPr>
          </a:p>
        </p:txBody>
      </p:sp>
      <p:sp>
        <p:nvSpPr>
          <p:cNvPr id="23" name="Google Shape;23;p4"/>
          <p:cNvSpPr txBox="1"/>
          <p:nvPr>
            <p:ph idx="1" type="subTitle"/>
          </p:nvPr>
        </p:nvSpPr>
        <p:spPr>
          <a:xfrm>
            <a:off x="958674" y="2488350"/>
            <a:ext cx="107214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7400" lIns="94800" spcFirstLastPara="1" rIns="94800" wrap="square" tIns="474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E7E38"/>
              </a:buClr>
              <a:buSzPts val="4600"/>
              <a:buNone/>
            </a:pPr>
            <a:r>
              <a:rPr b="1" lang="en-US" sz="3500">
                <a:solidFill>
                  <a:srgbClr val="9E7E38"/>
                </a:solidFill>
                <a:latin typeface="Nunito Sans"/>
                <a:ea typeface="Nunito Sans"/>
                <a:cs typeface="Nunito Sans"/>
                <a:sym typeface="Nunito Sans"/>
              </a:rPr>
              <a:t>Sponsor</a:t>
            </a:r>
            <a:r>
              <a:rPr b="1" lang="en-US" sz="3500">
                <a:solidFill>
                  <a:srgbClr val="9E7E38"/>
                </a:solidFill>
                <a:latin typeface="Nunito Sans"/>
                <a:ea typeface="Nunito Sans"/>
                <a:cs typeface="Nunito Sans"/>
                <a:sym typeface="Nunito Sans"/>
              </a:rPr>
              <a:t> Review </a:t>
            </a:r>
            <a:endParaRPr sz="3500">
              <a:solidFill>
                <a:srgbClr val="9E7E38"/>
              </a:solidFill>
            </a:endParaRPr>
          </a:p>
        </p:txBody>
      </p:sp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5"/>
          <p:cNvSpPr/>
          <p:nvPr/>
        </p:nvSpPr>
        <p:spPr>
          <a:xfrm>
            <a:off x="0" y="10972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7E38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9E7E38"/>
                </a:solidFill>
                <a:latin typeface="Georgia"/>
                <a:ea typeface="Georgia"/>
                <a:cs typeface="Georgia"/>
                <a:sym typeface="Georgia"/>
              </a:rPr>
              <a:t>WF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/>
          <p:cNvSpPr/>
          <p:nvPr/>
        </p:nvSpPr>
        <p:spPr>
          <a:xfrm>
            <a:off x="822960" y="256032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7E38"/>
              </a:buClr>
              <a:buSzPts val="2600"/>
              <a:buFont typeface="Century Gothic"/>
              <a:buNone/>
            </a:pPr>
            <a:r>
              <a:rPr b="0" i="0" lang="en-US" sz="2600" u="none" cap="none" strike="noStrike">
                <a:solidFill>
                  <a:srgbClr val="9E7E3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Agenda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" name="Google Shape;32;p5"/>
          <p:cNvCxnSpPr/>
          <p:nvPr/>
        </p:nvCxnSpPr>
        <p:spPr>
          <a:xfrm>
            <a:off x="822960" y="896112"/>
            <a:ext cx="10515600" cy="0"/>
          </a:xfrm>
          <a:prstGeom prst="straightConnector1">
            <a:avLst/>
          </a:prstGeom>
          <a:noFill/>
          <a:ln cap="flat" cmpd="sng" w="12700">
            <a:solidFill>
              <a:srgbClr val="CEB8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" name="Google Shape;33;p5"/>
          <p:cNvSpPr/>
          <p:nvPr/>
        </p:nvSpPr>
        <p:spPr>
          <a:xfrm>
            <a:off x="10241280" y="310896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7E3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E7E38"/>
                </a:solidFill>
                <a:latin typeface="Calibri"/>
                <a:ea typeface="Calibri"/>
                <a:cs typeface="Calibri"/>
                <a:sym typeface="Calibri"/>
              </a:rPr>
              <a:t>DRAFT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1097280" y="1463040"/>
            <a:ext cx="9601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Review Project Charter (purpose, scope, out of scope)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Workstream details and owners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Questions on the Charter and Guiding Principles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Review reporting catalogue / key metrics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Decisions and approvals needed today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822960" y="6400800"/>
            <a:ext cx="10424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Template note: This is the Initiation deliverable presented to sponsors to approve the charter and guiding principles.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6"/>
          <p:cNvSpPr/>
          <p:nvPr/>
        </p:nvSpPr>
        <p:spPr>
          <a:xfrm>
            <a:off x="0" y="10972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7E38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9E7E38"/>
                </a:solidFill>
                <a:latin typeface="Georgia"/>
                <a:ea typeface="Georgia"/>
                <a:cs typeface="Georgia"/>
                <a:sym typeface="Georgia"/>
              </a:rPr>
              <a:t>WF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6"/>
          <p:cNvSpPr/>
          <p:nvPr/>
        </p:nvSpPr>
        <p:spPr>
          <a:xfrm>
            <a:off x="822960" y="256032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7E38"/>
              </a:buClr>
              <a:buSzPts val="2600"/>
              <a:buFont typeface="Century Gothic"/>
              <a:buNone/>
            </a:pPr>
            <a:r>
              <a:rPr b="0" i="0" lang="en-US" sz="2600" u="none" cap="none" strike="noStrike">
                <a:solidFill>
                  <a:srgbClr val="9E7E3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Project Charter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" name="Google Shape;44;p6"/>
          <p:cNvCxnSpPr/>
          <p:nvPr/>
        </p:nvCxnSpPr>
        <p:spPr>
          <a:xfrm>
            <a:off x="822960" y="896112"/>
            <a:ext cx="10515600" cy="0"/>
          </a:xfrm>
          <a:prstGeom prst="straightConnector1">
            <a:avLst/>
          </a:prstGeom>
          <a:noFill/>
          <a:ln cap="flat" cmpd="sng" w="12700">
            <a:solidFill>
              <a:srgbClr val="CEB8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6"/>
          <p:cNvSpPr/>
          <p:nvPr/>
        </p:nvSpPr>
        <p:spPr>
          <a:xfrm>
            <a:off x="10241280" y="310896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7E3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E7E38"/>
                </a:solidFill>
                <a:latin typeface="Calibri"/>
                <a:ea typeface="Calibri"/>
                <a:cs typeface="Calibri"/>
                <a:sym typeface="Calibri"/>
              </a:rPr>
              <a:t>DRAFT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822960" y="109728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entury Gothic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Purpose</a:t>
            </a:r>
            <a:r>
              <a:rPr b="0" i="1" lang="en-US" sz="10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  (2 to 3 sentences: the problem this solves and why it matters)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822960" y="137160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[Describe the problem this project solves and the outcome it enables. Keep it to 2 to 3 sentences.]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6"/>
          <p:cNvSpPr/>
          <p:nvPr/>
        </p:nvSpPr>
        <p:spPr>
          <a:xfrm>
            <a:off x="822960" y="214884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entury Gothic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Scope / Key Deliverables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822960" y="2468880"/>
            <a:ext cx="76809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[Workstream 1]: [clear outcome statement]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[Workstream 2]: [clear outcome statement]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[Workstream 3]: [clear outcome statement]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[Workstream 4]: [clear outcome statement]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[Change management and adoption]: [outcome]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[Sustainment and governance]: [outcome]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822960" y="452628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entury Gothic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Out of Scope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822960" y="4846320"/>
            <a:ext cx="7680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[Explicitly list what this project does NOT cover, one per line, to prevent scope creep]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[Out of scope item]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[Out of scope item]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" name="Google Shape;52;p6"/>
          <p:cNvCxnSpPr/>
          <p:nvPr/>
        </p:nvCxnSpPr>
        <p:spPr>
          <a:xfrm>
            <a:off x="8869680" y="1097280"/>
            <a:ext cx="0" cy="4937760"/>
          </a:xfrm>
          <a:prstGeom prst="straightConnector1">
            <a:avLst/>
          </a:prstGeom>
          <a:noFill/>
          <a:ln cap="flat" cmpd="sng" w="15875">
            <a:solidFill>
              <a:srgbClr val="CEB8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" name="Google Shape;53;p6"/>
          <p:cNvSpPr/>
          <p:nvPr/>
        </p:nvSpPr>
        <p:spPr>
          <a:xfrm>
            <a:off x="9144000" y="109728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entury Gothic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Executive Sponsors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9144000" y="1170425"/>
            <a:ext cx="2469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[Name]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9144000" y="1719072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entury Gothic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System / Project Leads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9144000" y="1774823"/>
            <a:ext cx="2469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[Name]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9144000" y="2304337"/>
            <a:ext cx="3164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entury Gothic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Business Transformation / Change Lead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9144000" y="2360040"/>
            <a:ext cx="2469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[Name]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9144000" y="2962656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entury Gothic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Functional / Workstream Leads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9144000" y="3236976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[Workstream]: [Name]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[Workstream]: [Name]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[Workstream]: [Name]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9144000" y="3986784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entury Gothic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Project Management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9144000" y="4079890"/>
            <a:ext cx="2469000" cy="85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[PM</a:t>
            </a:r>
            <a:r>
              <a:rPr lang="en-US" sz="11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, overall</a:t>
            </a:r>
            <a:r>
              <a:rPr b="0" i="0" lang="en-US" sz="11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[PM, work stream]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[PM, work stream]</a:t>
            </a:r>
            <a:endParaRPr sz="11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7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7"/>
          <p:cNvSpPr/>
          <p:nvPr/>
        </p:nvSpPr>
        <p:spPr>
          <a:xfrm>
            <a:off x="0" y="10972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7E38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9E7E38"/>
                </a:solidFill>
                <a:latin typeface="Georgia"/>
                <a:ea typeface="Georgia"/>
                <a:cs typeface="Georgia"/>
                <a:sym typeface="Georgia"/>
              </a:rPr>
              <a:t>WF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7"/>
          <p:cNvSpPr/>
          <p:nvPr/>
        </p:nvSpPr>
        <p:spPr>
          <a:xfrm>
            <a:off x="822960" y="256032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7E38"/>
              </a:buClr>
              <a:buSzPts val="2600"/>
              <a:buFont typeface="Century Gothic"/>
              <a:buNone/>
            </a:pPr>
            <a:r>
              <a:rPr b="0" i="0" lang="en-US" sz="2600" u="none" cap="none" strike="noStrike">
                <a:solidFill>
                  <a:srgbClr val="9E7E3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Guiding Principles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" name="Google Shape;71;p7"/>
          <p:cNvCxnSpPr/>
          <p:nvPr/>
        </p:nvCxnSpPr>
        <p:spPr>
          <a:xfrm>
            <a:off x="822960" y="896112"/>
            <a:ext cx="10515600" cy="0"/>
          </a:xfrm>
          <a:prstGeom prst="straightConnector1">
            <a:avLst/>
          </a:prstGeom>
          <a:noFill/>
          <a:ln cap="flat" cmpd="sng" w="12700">
            <a:solidFill>
              <a:srgbClr val="CEB8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7"/>
          <p:cNvSpPr/>
          <p:nvPr/>
        </p:nvSpPr>
        <p:spPr>
          <a:xfrm>
            <a:off x="1097280" y="1371600"/>
            <a:ext cx="9601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[Principle 1, for example: We design with the end user in mind</a:t>
            </a:r>
            <a:r>
              <a:rPr b="0" i="0" lang="en-US" sz="16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[Principle 2: One owner, one source of truth]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[Principle 3: Decisions align to governance and policy]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[Principle 4: Progress over perfection]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[Principle 5]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822960" y="6400800"/>
            <a:ext cx="10424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Template note: 3 to 5 principles that will guide decisions. Confirm with sponsors.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8"/>
          <p:cNvSpPr/>
          <p:nvPr/>
        </p:nvSpPr>
        <p:spPr>
          <a:xfrm>
            <a:off x="0" y="10972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7E38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9E7E38"/>
                </a:solidFill>
                <a:latin typeface="Georgia"/>
                <a:ea typeface="Georgia"/>
                <a:cs typeface="Georgia"/>
                <a:sym typeface="Georgia"/>
              </a:rPr>
              <a:t>WF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8"/>
          <p:cNvSpPr/>
          <p:nvPr/>
        </p:nvSpPr>
        <p:spPr>
          <a:xfrm>
            <a:off x="822960" y="256032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7E38"/>
              </a:buClr>
              <a:buSzPts val="2600"/>
              <a:buFont typeface="Century Gothic"/>
              <a:buNone/>
            </a:pPr>
            <a:r>
              <a:rPr b="0" i="0" lang="en-US" sz="2600" u="none" cap="none" strike="noStrike">
                <a:solidFill>
                  <a:srgbClr val="9E7E3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Workstreams at a Glance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" name="Google Shape;82;p8"/>
          <p:cNvCxnSpPr/>
          <p:nvPr/>
        </p:nvCxnSpPr>
        <p:spPr>
          <a:xfrm>
            <a:off x="822960" y="896112"/>
            <a:ext cx="10515600" cy="0"/>
          </a:xfrm>
          <a:prstGeom prst="straightConnector1">
            <a:avLst/>
          </a:prstGeom>
          <a:noFill/>
          <a:ln cap="flat" cmpd="sng" w="12700">
            <a:solidFill>
              <a:srgbClr val="CEB888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83" name="Google Shape;83;p8"/>
          <p:cNvGraphicFramePr/>
          <p:nvPr/>
        </p:nvGraphicFramePr>
        <p:xfrm>
          <a:off x="822960" y="1280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{40389E60-60E0-4264-9417-D492CEFA458D}</a:tableStyleId>
              </a:tblPr>
              <a:tblGrid>
                <a:gridCol w="2743200"/>
                <a:gridCol w="2286000"/>
                <a:gridCol w="548640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Workstream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Lead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Outcome / key deliverable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[Workstream 1]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[Name]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[Outcome statement]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[Workstream 2]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[Name]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[Outcome statement]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[Workstream 3]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[Name]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[Outcome statement]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[Change &amp; adoption]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[Name]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[Outcome statement]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9"/>
          <p:cNvSpPr/>
          <p:nvPr/>
        </p:nvSpPr>
        <p:spPr>
          <a:xfrm>
            <a:off x="0" y="10972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7E38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9E7E38"/>
                </a:solidFill>
                <a:latin typeface="Georgia"/>
                <a:ea typeface="Georgia"/>
                <a:cs typeface="Georgia"/>
                <a:sym typeface="Georgia"/>
              </a:rPr>
              <a:t>WF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9"/>
          <p:cNvSpPr/>
          <p:nvPr/>
        </p:nvSpPr>
        <p:spPr>
          <a:xfrm>
            <a:off x="822960" y="256032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7E38"/>
              </a:buClr>
              <a:buSzPts val="2600"/>
              <a:buFont typeface="Century Gothic"/>
              <a:buNone/>
            </a:pPr>
            <a:r>
              <a:rPr b="0" i="0" lang="en-US" sz="2600" u="none" cap="none" strike="noStrike">
                <a:solidFill>
                  <a:srgbClr val="9E7E3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Decisions &amp; Approvals Needed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" name="Google Shape;92;p9"/>
          <p:cNvCxnSpPr/>
          <p:nvPr/>
        </p:nvCxnSpPr>
        <p:spPr>
          <a:xfrm>
            <a:off x="822960" y="896112"/>
            <a:ext cx="10515600" cy="0"/>
          </a:xfrm>
          <a:prstGeom prst="straightConnector1">
            <a:avLst/>
          </a:prstGeom>
          <a:noFill/>
          <a:ln cap="flat" cmpd="sng" w="12700">
            <a:solidFill>
              <a:srgbClr val="CEB8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p9"/>
          <p:cNvSpPr/>
          <p:nvPr/>
        </p:nvSpPr>
        <p:spPr>
          <a:xfrm>
            <a:off x="1097280" y="1371600"/>
            <a:ext cx="9601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[Decision 1 needed from sponsors, with options A / B and a recommendation]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[Decision 2]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[Decision 3]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Approval ask: endorse the charter, guiding principles, and scope so the team can proceed to Kickoff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9"/>
          <p:cNvSpPr/>
          <p:nvPr/>
        </p:nvSpPr>
        <p:spPr>
          <a:xfrm>
            <a:off x="822960" y="6400800"/>
            <a:ext cx="10424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Template note: Make the sponsor ask explicit: what you need them to decide or approve.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7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5CA8"/>
                </a:solidFill>
                <a:latin typeface="Calibri"/>
              </a:rPr>
              <a:t>SIGNATURE AVIATION    |    PM AND CM TOOLKIT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3000" b="1">
                <a:solidFill>
                  <a:srgbClr val="0C1A26"/>
                </a:solidFill>
                <a:latin typeface="Calibri"/>
              </a:rPr>
              <a:t>How to use this deck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300" b="1">
                <a:solidFill>
                  <a:srgbClr val="0A5CA8"/>
                </a:solidFill>
                <a:latin typeface="Calibri"/>
              </a:rPr>
              <a:t>Sponsor Review Deck    |    Full tier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5CA8"/>
                </a:solidFill>
                <a:latin typeface="Calibri"/>
              </a:rPr>
              <a:t>What it is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50" b="0">
                <a:solidFill>
                  <a:srgbClr val="0C1A26"/>
                </a:solidFill>
                <a:latin typeface="Calibri"/>
              </a:rPr>
              <a:t>A deck for a sponsor review or steering checkpoint.</a:t>
            </a:r>
          </a:p>
          <a:p>
            <a:pPr>
              <a:spcBef>
                <a:spcPts val="1000"/>
              </a:spcBef>
              <a:spcAft>
                <a:spcPts val="0"/>
              </a:spcAft>
            </a:pPr>
            <a:r>
              <a:rPr sz="1400" b="1">
                <a:solidFill>
                  <a:srgbClr val="0A5CA8"/>
                </a:solidFill>
                <a:latin typeface="Calibri"/>
              </a:rPr>
              <a:t>When to use it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50" b="0">
                <a:solidFill>
                  <a:srgbClr val="0C1A26"/>
                </a:solidFill>
                <a:latin typeface="Calibri"/>
              </a:rPr>
              <a:t>At milestone checkpoints with the sponsor.</a:t>
            </a:r>
          </a:p>
          <a:p>
            <a:pPr>
              <a:spcBef>
                <a:spcPts val="1000"/>
              </a:spcBef>
              <a:spcAft>
                <a:spcPts val="0"/>
              </a:spcAft>
            </a:pPr>
            <a:r>
              <a:rPr sz="1400" b="1">
                <a:solidFill>
                  <a:srgbClr val="0A5CA8"/>
                </a:solidFill>
                <a:latin typeface="Calibri"/>
              </a:rPr>
              <a:t>How to adapt it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50" b="0">
                <a:solidFill>
                  <a:srgbClr val="0C1A26"/>
                </a:solidFill>
                <a:latin typeface="Calibri"/>
              </a:rPr>
              <a:t>1.  Update status, risks, and decisions needed.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50" b="0">
                <a:solidFill>
                  <a:srgbClr val="0C1A26"/>
                </a:solidFill>
                <a:latin typeface="Calibri"/>
              </a:rPr>
              <a:t>2.  Lead with what you need from the sponsor.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50" b="0">
                <a:solidFill>
                  <a:srgbClr val="0C1A26"/>
                </a:solidFill>
                <a:latin typeface="Calibri"/>
              </a:rPr>
              <a:t>3.  Keep it tight.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50" b="0">
                <a:solidFill>
                  <a:srgbClr val="0C1A26"/>
                </a:solidFill>
                <a:latin typeface="Calibri"/>
              </a:rPr>
              <a:t>4.  Send any pre read ahead.</a:t>
            </a:r>
          </a:p>
          <a:p>
            <a:pPr>
              <a:spcBef>
                <a:spcPts val="1000"/>
              </a:spcBef>
              <a:spcAft>
                <a:spcPts val="0"/>
              </a:spcAft>
            </a:pPr>
            <a:r>
              <a:rPr sz="1400" b="1">
                <a:solidFill>
                  <a:srgbClr val="0A5CA8"/>
                </a:solidFill>
                <a:latin typeface="Calibri"/>
              </a:rPr>
              <a:t>Time needed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50" b="0">
                <a:solidFill>
                  <a:srgbClr val="0C1A26"/>
                </a:solidFill>
                <a:latin typeface="Calibri"/>
              </a:rPr>
              <a:t>1 hour to adapt</a:t>
            </a:r>
          </a:p>
          <a:p>
            <a:pPr>
              <a:spcBef>
                <a:spcPts val="1000"/>
              </a:spcBef>
              <a:spcAft>
                <a:spcPts val="0"/>
              </a:spcAft>
            </a:pPr>
            <a:r>
              <a:rPr sz="1400" b="1">
                <a:solidFill>
                  <a:srgbClr val="0A5CA8"/>
                </a:solidFill>
                <a:latin typeface="Calibri"/>
              </a:rPr>
              <a:t>What good looks like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50" b="0">
                <a:solidFill>
                  <a:srgbClr val="0C1A26"/>
                </a:solidFill>
                <a:latin typeface="Calibri"/>
              </a:rPr>
              <a:t>A sponsor who leaves having made the decisions you needed.</a:t>
            </a:r>
          </a:p>
          <a:p>
            <a:pPr>
              <a:spcBef>
                <a:spcPts val="1000"/>
              </a:spcBef>
              <a:spcAft>
                <a:spcPts val="0"/>
              </a:spcAft>
            </a:pPr>
            <a:r>
              <a:rPr sz="1400" b="1">
                <a:solidFill>
                  <a:srgbClr val="0A5CA8"/>
                </a:solidFill>
                <a:latin typeface="Calibri"/>
              </a:rPr>
              <a:t>Related tools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50" b="0">
                <a:solidFill>
                  <a:srgbClr val="0C1A26"/>
                </a:solidFill>
                <a:latin typeface="Calibri"/>
              </a:rPr>
              <a:t>Executive Summary, Status Update deck, Sponsor Roadmap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