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63" r:id="rId24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unito Sans ExtraLight"/>
      <p:regular r:id="rId12"/>
      <p:bold r:id="rId13"/>
      <p:italic r:id="rId14"/>
      <p:boldItalic r:id="rId15"/>
    </p:embeddedFont>
    <p:embeddedFont>
      <p:font typeface="Century Gothic"/>
      <p:regular r:id="rId16"/>
      <p:bold r:id="rId17"/>
      <p:italic r:id="rId18"/>
      <p:boldItalic r:id="rId19"/>
    </p:embeddedFont>
    <p:embeddedFont>
      <p:font typeface="Nuni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unitoSansExtraLight-regular.fntdata"/><Relationship Id="rId13" Type="http://schemas.openxmlformats.org/officeDocument/2006/relationships/font" Target="fonts/NunitoSansExtraLight-bold.fntdata"/><Relationship Id="rId14" Type="http://schemas.openxmlformats.org/officeDocument/2006/relationships/font" Target="fonts/NunitoSansExtraLight-italic.fntdata"/><Relationship Id="rId15" Type="http://schemas.openxmlformats.org/officeDocument/2006/relationships/font" Target="fonts/NunitoSansExtraLight-boldItalic.fntdata"/><Relationship Id="rId16" Type="http://schemas.openxmlformats.org/officeDocument/2006/relationships/font" Target="fonts/CenturyGothic-regular.fntdata"/><Relationship Id="rId17" Type="http://schemas.openxmlformats.org/officeDocument/2006/relationships/font" Target="fonts/CenturyGothic-bold.fntdata"/><Relationship Id="rId18" Type="http://schemas.openxmlformats.org/officeDocument/2006/relationships/font" Target="fonts/CenturyGothic-italic.fntdata"/><Relationship Id="rId19" Type="http://schemas.openxmlformats.org/officeDocument/2006/relationships/font" Target="fonts/CenturyGothic-boldItalic.fntdata"/><Relationship Id="rId20" Type="http://schemas.openxmlformats.org/officeDocument/2006/relationships/font" Target="fonts/NunitoSans-regular.fntdata"/><Relationship Id="rId21" Type="http://schemas.openxmlformats.org/officeDocument/2006/relationships/font" Target="fonts/NunitoSans-bold.fntdata"/><Relationship Id="rId22" Type="http://schemas.openxmlformats.org/officeDocument/2006/relationships/font" Target="fonts/NunitoSans-italic.fntdata"/><Relationship Id="rId23" Type="http://schemas.openxmlformats.org/officeDocument/2006/relationships/font" Target="fonts/NunitoSans-boldItalic.fntdata"/><Relationship Id="rId2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d698b8795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ed698b8795_0_0:notes"/>
          <p:cNvSpPr/>
          <p:nvPr>
            <p:ph idx="2" type="sldImg"/>
          </p:nvPr>
        </p:nvSpPr>
        <p:spPr>
          <a:xfrm>
            <a:off x="685876" y="1523959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5574341"/>
            <a:ext cx="12191700" cy="12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200"/>
              <a:buFont typeface="Nunito Sans ExtraLight"/>
              <a:buChar char="●"/>
              <a:defRPr sz="6200"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959" y="3602038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  <a:defRPr sz="2500">
                <a:solidFill>
                  <a:srgbClr val="7F6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5528622"/>
            <a:ext cx="12191700" cy="456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title="WF_ic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578" y="5618338"/>
            <a:ext cx="1462058" cy="10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164592" y="1828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164592" y="93268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64592" y="1682496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64592" y="24323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64592" y="3182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64592" y="39319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64592" y="468172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64592" y="5431536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64592" y="618134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A2A2A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0" y="4572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WAKE FOREST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2468880"/>
            <a:ext cx="10241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  </a:t>
            </a:r>
            <a:r>
              <a:rPr b="0" i="0" lang="en-US" sz="44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[Project Name]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17320" y="3657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B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EB888"/>
                </a:solidFill>
                <a:latin typeface="Calibri"/>
                <a:ea typeface="Calibri"/>
                <a:cs typeface="Calibri"/>
                <a:sym typeface="Calibri"/>
              </a:rPr>
              <a:t>Voice of the User Session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17320" y="42062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Current State, Pain Points, Future-State Considerations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ctrTitle"/>
          </p:nvPr>
        </p:nvSpPr>
        <p:spPr>
          <a:xfrm>
            <a:off x="1523959" y="349365"/>
            <a:ext cx="9143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100"/>
              <a:buFont typeface="Nunito Sans ExtraLight"/>
              <a:buNone/>
            </a:pPr>
            <a:r>
              <a:rPr lang="en-US" sz="4100">
                <a:solidFill>
                  <a:srgbClr val="9E7E38"/>
                </a:solidFill>
              </a:rPr>
              <a:t>&lt;INSERT NAME OF PROJECT&gt;</a:t>
            </a:r>
            <a:endParaRPr sz="4100"/>
          </a:p>
        </p:txBody>
      </p:sp>
      <p:sp>
        <p:nvSpPr>
          <p:cNvPr id="41" name="Google Shape;41;p5"/>
          <p:cNvSpPr txBox="1"/>
          <p:nvPr/>
        </p:nvSpPr>
        <p:spPr>
          <a:xfrm>
            <a:off x="1523959" y="5062441"/>
            <a:ext cx="8317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Month Year</a:t>
            </a:r>
            <a:endParaRPr b="0" i="0" sz="1900" u="none" cap="none" strike="noStrike">
              <a:solidFill>
                <a:schemeClr val="dk1"/>
              </a:solidFill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958674" y="2488350"/>
            <a:ext cx="10721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E7E38"/>
              </a:buClr>
              <a:buSzPts val="4600"/>
              <a:buNone/>
            </a:pP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Voice of the User Sesssion Template</a:t>
            </a:r>
            <a:endParaRPr sz="3500">
              <a:solidFill>
                <a:srgbClr val="9E7E38"/>
              </a:solidFill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110695" y="320039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Current State, Pain Points, Future-State Considerations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6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6"/>
          <p:cNvSpPr/>
          <p:nvPr/>
        </p:nvSpPr>
        <p:spPr>
          <a:xfrm>
            <a:off x="1097280" y="1463040"/>
            <a:ext cx="9966960" cy="73152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entury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  The Ask &amp; Project Charter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097280" y="2423160"/>
            <a:ext cx="9966960" cy="731520"/>
          </a:xfrm>
          <a:prstGeom prst="roundRect">
            <a:avLst>
              <a:gd fmla="val 7500" name="adj"/>
            </a:avLst>
          </a:prstGeom>
          <a:solidFill>
            <a:srgbClr val="F3EFE6"/>
          </a:solidFill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371600" y="242316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entury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  Current State Overview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097280" y="3383280"/>
            <a:ext cx="9966960" cy="73152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entury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  Stakeholder Discussion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097280" y="4343400"/>
            <a:ext cx="9966960" cy="731520"/>
          </a:xfrm>
          <a:prstGeom prst="roundRect">
            <a:avLst>
              <a:gd fmla="val 7500" name="adj"/>
            </a:avLst>
          </a:prstGeom>
          <a:solidFill>
            <a:srgbClr val="F3EFE6"/>
          </a:solidFill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1371600" y="434340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entury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  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Run this with SBAs, ITP, and Talent Liaisons before the design session to gather current state and pain points.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Ask &amp; Project Charter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7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7"/>
          <p:cNvSpPr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/ 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[Brief problem statement and objective.]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22960" y="219456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scope / 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22960" y="248716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In: [what this session will inform]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Out: [what is not up for discussion today]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Current State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8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8"/>
          <p:cNvSpPr/>
          <p:nvPr/>
        </p:nvSpPr>
        <p:spPr>
          <a:xfrm>
            <a:off x="1097280" y="1371600"/>
            <a:ext cx="9601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[Current process at a high level, step by step]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[Known pain points and where they occur]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[Workarounds in use today]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[Systems and hand-offs involved]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Capture today's reality so the design session can focus on future state.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Stakeholder Discussion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9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9"/>
          <p:cNvSpPr/>
          <p:nvPr/>
        </p:nvSpPr>
        <p:spPr>
          <a:xfrm>
            <a:off x="1097280" y="1371600"/>
            <a:ext cx="9601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What works well today that we should keep?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What is most painful or time-consuming, and why?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Where do errors or rework happen?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What would good look like in the future state?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What concerns do you have about changing this?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Facilitation prompts. Capture responses into the action &amp; decision log and the design inputs.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0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0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Themes feed into the Design Session inputs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[Owner] to consolidate notes by [date]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Confirm design session attendees and pre-reads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Open questions logged in the action &amp; decision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Voice of the User Deck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deck to bring the voice of the user into pre design.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Before design, to ground the team in real user needs.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Replace placeholder text on the title slide.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Add real user input and quotes.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Keep the focus on user needs.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Carry themes into design.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 to 2 hours to adapt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Design grounded in what users actually said they need.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Stakeholder Interview Guide, Change Impact Assessment, Design Session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