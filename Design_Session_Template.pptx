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0" r:id="rId4"/>
  </p:sldMasterIdLst>
  <p:notesMasterIdLst>
    <p:notesMasterId r:id="rId5"/>
  </p:notesMasterIdLst>
  <p:sldIdLst>
    <p:sldId id="256" r:id="rId6"/>
    <p:sldId id="264" r:id="rId2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6858000" cx="12191675"/>
  <p:notesSz cx="6858000" cy="12191675"/>
  <p:embeddedFontLst>
    <p:embeddedFont>
      <p:font typeface="Nunito Sans ExtraLight"/>
      <p:regular r:id="rId14"/>
      <p:bold r:id="rId15"/>
      <p:italic r:id="rId16"/>
      <p:boldItalic r:id="rId17"/>
    </p:embeddedFont>
    <p:embeddedFont>
      <p:font typeface="Nunito Sans"/>
      <p:regular r:id="rId18"/>
      <p:bold r:id="rId19"/>
      <p:italic r:id="rId20"/>
      <p:boldItalic r:id="rId21"/>
    </p:embeddedFont>
    <p:embeddedFont>
      <p:font typeface="Century Gothic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D32A32E-E27A-4735-96F1-7CC9544CEAF7}">
  <a:tblStyle styleId="{4D32A32E-E27A-4735-96F1-7CC9544CEAF7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font" Target="fonts/NunitoSansExtraLight-regular.fntdata"/><Relationship Id="rId15" Type="http://schemas.openxmlformats.org/officeDocument/2006/relationships/font" Target="fonts/NunitoSansExtraLight-bold.fntdata"/><Relationship Id="rId16" Type="http://schemas.openxmlformats.org/officeDocument/2006/relationships/font" Target="fonts/NunitoSansExtraLight-italic.fntdata"/><Relationship Id="rId17" Type="http://schemas.openxmlformats.org/officeDocument/2006/relationships/font" Target="fonts/NunitoSansExtraLight-boldItalic.fntdata"/><Relationship Id="rId18" Type="http://schemas.openxmlformats.org/officeDocument/2006/relationships/font" Target="fonts/NunitoSans-regular.fntdata"/><Relationship Id="rId19" Type="http://schemas.openxmlformats.org/officeDocument/2006/relationships/font" Target="fonts/NunitoSans-bold.fntdata"/><Relationship Id="rId20" Type="http://schemas.openxmlformats.org/officeDocument/2006/relationships/font" Target="fonts/NunitoSans-italic.fntdata"/><Relationship Id="rId21" Type="http://schemas.openxmlformats.org/officeDocument/2006/relationships/font" Target="fonts/NunitoSans-boldItalic.fntdata"/><Relationship Id="rId22" Type="http://schemas.openxmlformats.org/officeDocument/2006/relationships/font" Target="fonts/CenturyGothic-regular.fntdata"/><Relationship Id="rId23" Type="http://schemas.openxmlformats.org/officeDocument/2006/relationships/font" Target="fonts/CenturyGothic-bold.fntdata"/><Relationship Id="rId24" Type="http://schemas.openxmlformats.org/officeDocument/2006/relationships/font" Target="fonts/CenturyGothic-italic.fntdata"/><Relationship Id="rId25" Type="http://schemas.openxmlformats.org/officeDocument/2006/relationships/font" Target="fonts/CenturyGothic-boldItalic.fntdata"/><Relationship Id="rId2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3ed697db481_0_0:notes"/>
          <p:cNvSpPr txBox="1"/>
          <p:nvPr>
            <p:ph idx="1" type="body"/>
          </p:nvPr>
        </p:nvSpPr>
        <p:spPr>
          <a:xfrm>
            <a:off x="685800" y="5867244"/>
            <a:ext cx="5486400" cy="48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g3ed697db481_0_0:notes"/>
          <p:cNvSpPr/>
          <p:nvPr>
            <p:ph idx="2" type="sldImg"/>
          </p:nvPr>
        </p:nvSpPr>
        <p:spPr>
          <a:xfrm>
            <a:off x="685876" y="1523959"/>
            <a:ext cx="54864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" name="Google Shape;2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" name="Google Shape;3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" name="Google Shape;4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" name="Google Shape;6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" name="Google Shape;7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" name="Google Shape;8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/>
          <p:nvPr/>
        </p:nvSpPr>
        <p:spPr>
          <a:xfrm>
            <a:off x="0" y="5574341"/>
            <a:ext cx="12191700" cy="1283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7400" lIns="94800" spcFirstLastPara="1" rIns="94800" wrap="square" tIns="47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3"/>
          <p:cNvSpPr txBox="1"/>
          <p:nvPr>
            <p:ph type="ctrTitle"/>
          </p:nvPr>
        </p:nvSpPr>
        <p:spPr>
          <a:xfrm>
            <a:off x="1523959" y="1122363"/>
            <a:ext cx="91437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7400" lIns="94800" spcFirstLastPara="1" rIns="94800" wrap="square" tIns="474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9000"/>
              </a:buClr>
              <a:buSzPts val="6200"/>
              <a:buFont typeface="Nunito Sans ExtraLight"/>
              <a:buChar char="●"/>
              <a:defRPr sz="6200">
                <a:solidFill>
                  <a:srgbClr val="BF900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9pPr>
          </a:lstStyle>
          <a:p/>
        </p:txBody>
      </p:sp>
      <p:sp>
        <p:nvSpPr>
          <p:cNvPr id="14" name="Google Shape;14;p3"/>
          <p:cNvSpPr txBox="1"/>
          <p:nvPr>
            <p:ph idx="1" type="subTitle"/>
          </p:nvPr>
        </p:nvSpPr>
        <p:spPr>
          <a:xfrm>
            <a:off x="1523959" y="3602038"/>
            <a:ext cx="91437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7400" lIns="94800" spcFirstLastPara="1" rIns="94800" wrap="square" tIns="474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6000"/>
              </a:buClr>
              <a:buSzPts val="2500"/>
              <a:buNone/>
              <a:defRPr sz="2500">
                <a:solidFill>
                  <a:srgbClr val="7F6000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  <a:defRPr sz="17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  <a:defRPr sz="17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  <a:defRPr sz="17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  <a:defRPr sz="17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  <a:defRPr sz="17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  <a:defRPr sz="1700"/>
            </a:lvl9pPr>
          </a:lstStyle>
          <a:p/>
        </p:txBody>
      </p:sp>
      <p:sp>
        <p:nvSpPr>
          <p:cNvPr id="15" name="Google Shape;15;p3"/>
          <p:cNvSpPr/>
          <p:nvPr/>
        </p:nvSpPr>
        <p:spPr>
          <a:xfrm>
            <a:off x="0" y="5528622"/>
            <a:ext cx="12191700" cy="45600"/>
          </a:xfrm>
          <a:prstGeom prst="rect">
            <a:avLst/>
          </a:prstGeom>
          <a:solidFill>
            <a:srgbClr val="BF9000"/>
          </a:solidFill>
          <a:ln>
            <a:noFill/>
          </a:ln>
        </p:spPr>
        <p:txBody>
          <a:bodyPr anchorCtr="0" anchor="ctr" bIns="47400" lIns="94800" spcFirstLastPara="1" rIns="94800" wrap="square" tIns="47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" name="Google Shape;16;p3" title="WF_icon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283578" y="5618338"/>
            <a:ext cx="1462058" cy="10760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type="ctrTitle"/>
          </p:nvPr>
        </p:nvSpPr>
        <p:spPr>
          <a:xfrm>
            <a:off x="1523959" y="349365"/>
            <a:ext cx="9143700" cy="725700"/>
          </a:xfrm>
          <a:prstGeom prst="rect">
            <a:avLst/>
          </a:prstGeom>
          <a:noFill/>
          <a:ln>
            <a:noFill/>
          </a:ln>
        </p:spPr>
        <p:txBody>
          <a:bodyPr anchorCtr="0" anchor="b" bIns="47400" lIns="94800" spcFirstLastPara="1" rIns="94800" wrap="square" tIns="474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E7E38"/>
              </a:buClr>
              <a:buSzPts val="4100"/>
              <a:buFont typeface="Nunito Sans ExtraLight"/>
              <a:buNone/>
            </a:pPr>
            <a:r>
              <a:rPr lang="en-US" sz="4100">
                <a:solidFill>
                  <a:srgbClr val="9E7E38"/>
                </a:solidFill>
              </a:rPr>
              <a:t>&lt;INSERT NAME OF</a:t>
            </a:r>
            <a:r>
              <a:rPr lang="en-US" sz="4100">
                <a:solidFill>
                  <a:srgbClr val="9E7E38"/>
                </a:solidFill>
              </a:rPr>
              <a:t> PROJECT&gt;</a:t>
            </a:r>
            <a:endParaRPr sz="4100"/>
          </a:p>
        </p:txBody>
      </p:sp>
      <p:sp>
        <p:nvSpPr>
          <p:cNvPr id="22" name="Google Shape;22;p4"/>
          <p:cNvSpPr txBox="1"/>
          <p:nvPr/>
        </p:nvSpPr>
        <p:spPr>
          <a:xfrm>
            <a:off x="1523959" y="5062441"/>
            <a:ext cx="8317500" cy="38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7400" lIns="94800" spcFirstLastPara="1" rIns="94800" wrap="square" tIns="47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7F6000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rPr>
              <a:t>Month</a:t>
            </a:r>
            <a:r>
              <a:rPr lang="en-US" sz="1900">
                <a:solidFill>
                  <a:srgbClr val="7F6000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rPr>
              <a:t> Year</a:t>
            </a:r>
            <a:endParaRPr b="0" i="0" sz="1900" u="none" cap="none" strike="noStrike">
              <a:solidFill>
                <a:schemeClr val="dk1"/>
              </a:solidFill>
              <a:latin typeface="Nunito Sans ExtraLight"/>
              <a:ea typeface="Nunito Sans ExtraLight"/>
              <a:cs typeface="Nunito Sans ExtraLight"/>
              <a:sym typeface="Nunito Sans ExtraLight"/>
            </a:endParaRPr>
          </a:p>
        </p:txBody>
      </p:sp>
      <p:sp>
        <p:nvSpPr>
          <p:cNvPr id="23" name="Google Shape;23;p4"/>
          <p:cNvSpPr txBox="1"/>
          <p:nvPr>
            <p:ph idx="1" type="subTitle"/>
          </p:nvPr>
        </p:nvSpPr>
        <p:spPr>
          <a:xfrm>
            <a:off x="958674" y="2488350"/>
            <a:ext cx="107214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7400" lIns="94800" spcFirstLastPara="1" rIns="94800" wrap="square" tIns="474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9E7E38"/>
              </a:buClr>
              <a:buSzPts val="4600"/>
              <a:buNone/>
            </a:pPr>
            <a:r>
              <a:rPr b="1" lang="en-US" sz="3500">
                <a:solidFill>
                  <a:srgbClr val="9E7E38"/>
                </a:solidFill>
                <a:latin typeface="Nunito Sans"/>
                <a:ea typeface="Nunito Sans"/>
                <a:cs typeface="Nunito Sans"/>
                <a:sym typeface="Nunito Sans"/>
              </a:rPr>
              <a:t>Design Session</a:t>
            </a:r>
            <a:endParaRPr sz="3500">
              <a:solidFill>
                <a:srgbClr val="9E7E38"/>
              </a:solidFill>
            </a:endParaRPr>
          </a:p>
        </p:txBody>
      </p:sp>
    </p:spTree>
  </p:cSld>
  <p:clrMapOvr>
    <a:masterClrMapping/>
  </p:clrMapOvr>
  <p:transition spd="slow">
    <p:push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5"/>
          <p:cNvSpPr/>
          <p:nvPr/>
        </p:nvSpPr>
        <p:spPr>
          <a:xfrm>
            <a:off x="0" y="109728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E7E38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9E7E38"/>
                </a:solidFill>
                <a:latin typeface="Georgia"/>
                <a:ea typeface="Georgia"/>
                <a:cs typeface="Georgia"/>
                <a:sym typeface="Georgia"/>
              </a:rPr>
              <a:t>WF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5"/>
          <p:cNvSpPr/>
          <p:nvPr/>
        </p:nvSpPr>
        <p:spPr>
          <a:xfrm>
            <a:off x="822960" y="256032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E7E38"/>
              </a:buClr>
              <a:buSzPts val="2600"/>
              <a:buFont typeface="Century Gothic"/>
              <a:buNone/>
            </a:pPr>
            <a:r>
              <a:rPr b="0" i="0" lang="en-US" sz="2600" u="none" cap="none" strike="noStrike">
                <a:solidFill>
                  <a:srgbClr val="9E7E38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Guiding Principles: Game Rules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" name="Google Shape;32;p5"/>
          <p:cNvCxnSpPr/>
          <p:nvPr/>
        </p:nvCxnSpPr>
        <p:spPr>
          <a:xfrm>
            <a:off x="822960" y="896112"/>
            <a:ext cx="10515600" cy="0"/>
          </a:xfrm>
          <a:prstGeom prst="straightConnector1">
            <a:avLst/>
          </a:prstGeom>
          <a:noFill/>
          <a:ln cap="flat" cmpd="sng" w="12700">
            <a:solidFill>
              <a:srgbClr val="CEB88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" name="Google Shape;33;p5"/>
          <p:cNvSpPr/>
          <p:nvPr/>
        </p:nvSpPr>
        <p:spPr>
          <a:xfrm>
            <a:off x="914400" y="1280160"/>
            <a:ext cx="1033272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Think future state first: focus on what the process should be, not how it works today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800"/>
              </a:spcBef>
              <a:spcAft>
                <a:spcPts val="0"/>
              </a:spcAft>
              <a:buClr>
                <a:srgbClr val="222222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Design for the ecosystem, not one element: balance the needs of the whole organization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800"/>
              </a:spcBef>
              <a:spcAft>
                <a:spcPts val="0"/>
              </a:spcAft>
              <a:buClr>
                <a:srgbClr val="222222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Challenge assumptions: current processes are not constraints unless required by policy, regulation, or technology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800"/>
              </a:spcBef>
              <a:spcAft>
                <a:spcPts val="0"/>
              </a:spcAft>
              <a:buClr>
                <a:srgbClr val="222222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Seek clarity before solutions: align on definitions, ownership, and decision rights first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800"/>
              </a:spcBef>
              <a:spcAft>
                <a:spcPts val="0"/>
              </a:spcAft>
              <a:buClr>
                <a:srgbClr val="222222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One owner, one source of truth: every process, decision, and data element has a clear owner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800"/>
              </a:spcBef>
              <a:spcAft>
                <a:spcPts val="0"/>
              </a:spcAft>
              <a:buClr>
                <a:srgbClr val="222222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Progress over perfection: identify decisions, log open items, and keep moving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6"/>
          <p:cNvSpPr/>
          <p:nvPr/>
        </p:nvSpPr>
        <p:spPr>
          <a:xfrm>
            <a:off x="0" y="109728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E7E38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9E7E38"/>
                </a:solidFill>
                <a:latin typeface="Georgia"/>
                <a:ea typeface="Georgia"/>
                <a:cs typeface="Georgia"/>
                <a:sym typeface="Georgia"/>
              </a:rPr>
              <a:t>WF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6"/>
          <p:cNvSpPr/>
          <p:nvPr/>
        </p:nvSpPr>
        <p:spPr>
          <a:xfrm>
            <a:off x="822960" y="256032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E7E38"/>
              </a:buClr>
              <a:buSzPts val="2600"/>
              <a:buFont typeface="Century Gothic"/>
              <a:buNone/>
            </a:pPr>
            <a:r>
              <a:rPr b="0" i="0" lang="en-US" sz="2600" u="none" cap="none" strike="noStrike">
                <a:solidFill>
                  <a:srgbClr val="9E7E38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Decision-Making Approach: Our Compass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2" name="Google Shape;42;p6"/>
          <p:cNvCxnSpPr/>
          <p:nvPr/>
        </p:nvCxnSpPr>
        <p:spPr>
          <a:xfrm>
            <a:off x="822960" y="896112"/>
            <a:ext cx="10515600" cy="0"/>
          </a:xfrm>
          <a:prstGeom prst="straightConnector1">
            <a:avLst/>
          </a:prstGeom>
          <a:noFill/>
          <a:ln cap="flat" cmpd="sng" w="12700">
            <a:solidFill>
              <a:srgbClr val="CEB88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3" name="Google Shape;43;p6"/>
          <p:cNvSpPr/>
          <p:nvPr/>
        </p:nvSpPr>
        <p:spPr>
          <a:xfrm>
            <a:off x="822960" y="1097280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When disagreements arise, evaluate options against these criteria: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4" name="Google Shape;44;p6"/>
          <p:cNvGraphicFramePr/>
          <p:nvPr/>
        </p:nvGraphicFramePr>
        <p:xfrm>
          <a:off x="822960" y="15544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{4D32A32E-E27A-4735-96F1-7CC9544CEAF7}</a:tableStyleId>
              </a:tblPr>
              <a:tblGrid>
                <a:gridCol w="4114800"/>
                <a:gridCol w="6400800"/>
              </a:tblGrid>
              <a:tr h="64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Criteria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Key question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</a:tr>
              <a:tr h="64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222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[Criterion 1, e.g. Control / Governance]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222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[Does it strengthen governance and accountability?]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222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[Criterion 2, e.g. Data Integrity]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222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[Does it improve data quality, ownership, and reporting?]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222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[Criterion 3, e.g. User Experience]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222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[Does it simplify the experience for users and admins?]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7"/>
          <p:cNvSpPr/>
          <p:nvPr/>
        </p:nvSpPr>
        <p:spPr>
          <a:xfrm>
            <a:off x="0" y="109728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E7E38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9E7E38"/>
                </a:solidFill>
                <a:latin typeface="Georgia"/>
                <a:ea typeface="Georgia"/>
                <a:cs typeface="Georgia"/>
                <a:sym typeface="Georgia"/>
              </a:rPr>
              <a:t>WF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7"/>
          <p:cNvSpPr/>
          <p:nvPr/>
        </p:nvSpPr>
        <p:spPr>
          <a:xfrm>
            <a:off x="822960" y="256032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E7E38"/>
              </a:buClr>
              <a:buSzPts val="2600"/>
              <a:buFont typeface="Century Gothic"/>
              <a:buNone/>
            </a:pPr>
            <a:r>
              <a:rPr b="0" i="0" lang="en-US" sz="2600" u="none" cap="none" strike="noStrike">
                <a:solidFill>
                  <a:srgbClr val="9E7E38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Workshop Structure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3" name="Google Shape;53;p7"/>
          <p:cNvCxnSpPr/>
          <p:nvPr/>
        </p:nvCxnSpPr>
        <p:spPr>
          <a:xfrm>
            <a:off x="822960" y="896112"/>
            <a:ext cx="10515600" cy="0"/>
          </a:xfrm>
          <a:prstGeom prst="straightConnector1">
            <a:avLst/>
          </a:prstGeom>
          <a:noFill/>
          <a:ln cap="flat" cmpd="sng" w="12700">
            <a:solidFill>
              <a:srgbClr val="CEB88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4" name="Google Shape;54;p7"/>
          <p:cNvSpPr/>
          <p:nvPr/>
        </p:nvSpPr>
        <p:spPr>
          <a:xfrm>
            <a:off x="822960" y="1188720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E7E38"/>
              </a:buClr>
              <a:buSzPts val="1300"/>
              <a:buFont typeface="Century Gothic"/>
              <a:buNone/>
            </a:pPr>
            <a:r>
              <a:rPr b="1" i="0" lang="en-US" sz="1300" u="none" cap="none" strike="noStrike">
                <a:solidFill>
                  <a:srgbClr val="9E7E38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Day 1: Who owns it and how should it work?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7"/>
          <p:cNvSpPr/>
          <p:nvPr/>
        </p:nvSpPr>
        <p:spPr>
          <a:xfrm>
            <a:off x="1097280" y="1508760"/>
            <a:ext cx="493776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[Process] lifecycle review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80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Future-state process design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80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Definitions and business rules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80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Data ownership and decision rights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80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Draft RACI by phase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7"/>
          <p:cNvSpPr/>
          <p:nvPr/>
        </p:nvSpPr>
        <p:spPr>
          <a:xfrm>
            <a:off x="6217920" y="1188720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E7E38"/>
              </a:buClr>
              <a:buSzPts val="1300"/>
              <a:buFont typeface="Century Gothic"/>
              <a:buNone/>
            </a:pPr>
            <a:r>
              <a:rPr b="1" i="0" lang="en-US" sz="1300" u="none" cap="none" strike="noStrike">
                <a:solidFill>
                  <a:srgbClr val="9E7E38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Day 2: How do systems &amp; reporting enable it?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7"/>
          <p:cNvSpPr/>
          <p:nvPr/>
        </p:nvSpPr>
        <p:spPr>
          <a:xfrm>
            <a:off x="6400800" y="1508760"/>
            <a:ext cx="475488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System configuration deep dive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80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Data flows and integrations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80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Reporting and metrics needs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80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Open decisions and parking lot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80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Confirm future-state operating model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7"/>
          <p:cNvSpPr/>
          <p:nvPr/>
        </p:nvSpPr>
        <p:spPr>
          <a:xfrm>
            <a:off x="822960" y="3931920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Day 1 deliverables: [lifecycle framework] · [definitions &amp; rules] · [data ownership matrix] · [decision rights] · [draft RACI]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8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8"/>
          <p:cNvSpPr/>
          <p:nvPr/>
        </p:nvSpPr>
        <p:spPr>
          <a:xfrm>
            <a:off x="0" y="109728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E7E38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9E7E38"/>
                </a:solidFill>
                <a:latin typeface="Georgia"/>
                <a:ea typeface="Georgia"/>
                <a:cs typeface="Georgia"/>
                <a:sym typeface="Georgia"/>
              </a:rPr>
              <a:t>WF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8"/>
          <p:cNvSpPr/>
          <p:nvPr/>
        </p:nvSpPr>
        <p:spPr>
          <a:xfrm>
            <a:off x="822960" y="256032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E7E38"/>
              </a:buClr>
              <a:buSzPts val="2600"/>
              <a:buFont typeface="Century Gothic"/>
              <a:buNone/>
            </a:pPr>
            <a:r>
              <a:rPr b="0" i="0" lang="en-US" sz="2600" u="none" cap="none" strike="noStrike">
                <a:solidFill>
                  <a:srgbClr val="9E7E38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Lifecycle / Process Review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7" name="Google Shape;67;p8"/>
          <p:cNvCxnSpPr/>
          <p:nvPr/>
        </p:nvCxnSpPr>
        <p:spPr>
          <a:xfrm>
            <a:off x="822960" y="896112"/>
            <a:ext cx="10515600" cy="0"/>
          </a:xfrm>
          <a:prstGeom prst="straightConnector1">
            <a:avLst/>
          </a:prstGeom>
          <a:noFill/>
          <a:ln cap="flat" cmpd="sng" w="12700">
            <a:solidFill>
              <a:srgbClr val="CEB88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8" name="Google Shape;68;p8"/>
          <p:cNvSpPr/>
          <p:nvPr/>
        </p:nvSpPr>
        <p:spPr>
          <a:xfrm>
            <a:off x="1097280" y="1371600"/>
            <a:ext cx="96012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[Phase 1] -&gt; [Phase 2] -&gt; [Phase 3] -&gt; ... (list the lifecycle phases you will walk)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800"/>
              </a:spcBef>
              <a:spcAft>
                <a:spcPts val="0"/>
              </a:spcAft>
              <a:buClr>
                <a:srgbClr val="222222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For each phase: current state, future state, owner, decision rights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800"/>
              </a:spcBef>
              <a:spcAft>
                <a:spcPts val="0"/>
              </a:spcAft>
              <a:buClr>
                <a:srgbClr val="222222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Capture business rules and definitions as you go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9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9"/>
          <p:cNvSpPr/>
          <p:nvPr/>
        </p:nvSpPr>
        <p:spPr>
          <a:xfrm>
            <a:off x="0" y="109728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E7E38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9E7E38"/>
                </a:solidFill>
                <a:latin typeface="Georgia"/>
                <a:ea typeface="Georgia"/>
                <a:cs typeface="Georgia"/>
                <a:sym typeface="Georgia"/>
              </a:rPr>
              <a:t>WF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9"/>
          <p:cNvSpPr/>
          <p:nvPr/>
        </p:nvSpPr>
        <p:spPr>
          <a:xfrm>
            <a:off x="822960" y="256032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E7E38"/>
              </a:buClr>
              <a:buSzPts val="2600"/>
              <a:buFont typeface="Century Gothic"/>
              <a:buNone/>
            </a:pPr>
            <a:r>
              <a:rPr b="0" i="0" lang="en-US" sz="2600" u="none" cap="none" strike="noStrike">
                <a:solidFill>
                  <a:srgbClr val="9E7E38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Data Ownership &amp; Decision Rights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7" name="Google Shape;77;p9"/>
          <p:cNvCxnSpPr/>
          <p:nvPr/>
        </p:nvCxnSpPr>
        <p:spPr>
          <a:xfrm>
            <a:off x="822960" y="896112"/>
            <a:ext cx="10515600" cy="0"/>
          </a:xfrm>
          <a:prstGeom prst="straightConnector1">
            <a:avLst/>
          </a:prstGeom>
          <a:noFill/>
          <a:ln cap="flat" cmpd="sng" w="12700">
            <a:solidFill>
              <a:srgbClr val="CEB888"/>
            </a:solidFill>
            <a:prstDash val="solid"/>
            <a:round/>
            <a:headEnd len="sm" w="sm" type="none"/>
            <a:tailEnd len="sm" w="sm" type="none"/>
          </a:ln>
        </p:spPr>
      </p:cxnSp>
      <p:graphicFrame>
        <p:nvGraphicFramePr>
          <p:cNvPr id="78" name="Google Shape;78;p9"/>
          <p:cNvGraphicFramePr/>
          <p:nvPr/>
        </p:nvGraphicFramePr>
        <p:xfrm>
          <a:off x="822960" y="12801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{4D32A32E-E27A-4735-96F1-7CC9544CEAF7}</a:tableStyleId>
              </a:tblPr>
              <a:tblGrid>
                <a:gridCol w="3474725"/>
                <a:gridCol w="2377450"/>
                <a:gridCol w="2377450"/>
                <a:gridCol w="2286000"/>
              </a:tblGrid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 element / decision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Owner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System of record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Decision right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222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[element]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222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[owner]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222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[system]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222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[who decides]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222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[element]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222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[owner]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222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[system]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222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[who decides]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222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[element]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222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[owner]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222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[system]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222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[who decides]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0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0"/>
          <p:cNvSpPr/>
          <p:nvPr/>
        </p:nvSpPr>
        <p:spPr>
          <a:xfrm>
            <a:off x="0" y="109728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E7E38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9E7E38"/>
                </a:solidFill>
                <a:latin typeface="Georgia"/>
                <a:ea typeface="Georgia"/>
                <a:cs typeface="Georgia"/>
                <a:sym typeface="Georgia"/>
              </a:rPr>
              <a:t>WF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0"/>
          <p:cNvSpPr/>
          <p:nvPr/>
        </p:nvSpPr>
        <p:spPr>
          <a:xfrm>
            <a:off x="822960" y="256032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E7E38"/>
              </a:buClr>
              <a:buSzPts val="2600"/>
              <a:buFont typeface="Century Gothic"/>
              <a:buNone/>
            </a:pPr>
            <a:r>
              <a:rPr b="0" i="0" lang="en-US" sz="2600" u="none" cap="none" strike="noStrike">
                <a:solidFill>
                  <a:srgbClr val="9E7E38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Draft RACI by Phase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7" name="Google Shape;87;p10"/>
          <p:cNvCxnSpPr/>
          <p:nvPr/>
        </p:nvCxnSpPr>
        <p:spPr>
          <a:xfrm>
            <a:off x="822960" y="896112"/>
            <a:ext cx="10515600" cy="0"/>
          </a:xfrm>
          <a:prstGeom prst="straightConnector1">
            <a:avLst/>
          </a:prstGeom>
          <a:noFill/>
          <a:ln cap="flat" cmpd="sng" w="12700">
            <a:solidFill>
              <a:srgbClr val="CEB888"/>
            </a:solidFill>
            <a:prstDash val="solid"/>
            <a:round/>
            <a:headEnd len="sm" w="sm" type="none"/>
            <a:tailEnd len="sm" w="sm" type="none"/>
          </a:ln>
        </p:spPr>
      </p:cxnSp>
      <p:graphicFrame>
        <p:nvGraphicFramePr>
          <p:cNvPr id="88" name="Google Shape;88;p10"/>
          <p:cNvGraphicFramePr/>
          <p:nvPr/>
        </p:nvGraphicFramePr>
        <p:xfrm>
          <a:off x="822960" y="12801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{4D32A32E-E27A-4735-96F1-7CC9544CEAF7}</a:tableStyleId>
              </a:tblPr>
              <a:tblGrid>
                <a:gridCol w="5029200"/>
                <a:gridCol w="1371600"/>
                <a:gridCol w="1371600"/>
                <a:gridCol w="1371600"/>
                <a:gridCol w="1371600"/>
              </a:tblGrid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Phase / activity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222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[activity]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222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[role]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222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[role]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222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[role]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222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[role]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222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[activity]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222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[role]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222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[role]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222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[role]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222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[role]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222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[activity]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222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[role]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222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[role]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222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[role]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222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[role]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9" name="Google Shape;89;p10"/>
          <p:cNvSpPr/>
          <p:nvPr/>
        </p:nvSpPr>
        <p:spPr>
          <a:xfrm>
            <a:off x="822960" y="6400800"/>
            <a:ext cx="10424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Template note: R = Responsible, A = Accountable (one owner), C = Consulted, I = Informed.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1"/>
          <p:cNvSpPr/>
          <p:nvPr/>
        </p:nvSpPr>
        <p:spPr>
          <a:xfrm>
            <a:off x="0" y="109728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E7E38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9E7E38"/>
                </a:solidFill>
                <a:latin typeface="Georgia"/>
                <a:ea typeface="Georgia"/>
                <a:cs typeface="Georgia"/>
                <a:sym typeface="Georgia"/>
              </a:rPr>
              <a:t>WF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1"/>
          <p:cNvSpPr/>
          <p:nvPr/>
        </p:nvSpPr>
        <p:spPr>
          <a:xfrm>
            <a:off x="822960" y="256032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E7E38"/>
              </a:buClr>
              <a:buSzPts val="2600"/>
              <a:buFont typeface="Century Gothic"/>
              <a:buNone/>
            </a:pPr>
            <a:r>
              <a:rPr b="0" i="0" lang="en-US" sz="2600" u="none" cap="none" strike="noStrike">
                <a:solidFill>
                  <a:srgbClr val="9E7E38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Parking Lot &amp; Next Steps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8" name="Google Shape;98;p11"/>
          <p:cNvCxnSpPr/>
          <p:nvPr/>
        </p:nvCxnSpPr>
        <p:spPr>
          <a:xfrm>
            <a:off x="822960" y="896112"/>
            <a:ext cx="10515600" cy="0"/>
          </a:xfrm>
          <a:prstGeom prst="straightConnector1">
            <a:avLst/>
          </a:prstGeom>
          <a:noFill/>
          <a:ln cap="flat" cmpd="sng" w="12700">
            <a:solidFill>
              <a:srgbClr val="CEB88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9" name="Google Shape;99;p11"/>
          <p:cNvSpPr/>
          <p:nvPr/>
        </p:nvSpPr>
        <p:spPr>
          <a:xfrm>
            <a:off x="1097280" y="1371600"/>
            <a:ext cx="96012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Open items / parking lot: [item] -&gt; [owner] -&gt; [due]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800"/>
              </a:spcBef>
              <a:spcAft>
                <a:spcPts val="0"/>
              </a:spcAft>
              <a:buClr>
                <a:srgbClr val="222222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Decisions made today -&gt; log in the action &amp; decision log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800"/>
              </a:spcBef>
              <a:spcAft>
                <a:spcPts val="0"/>
              </a:spcAft>
              <a:buClr>
                <a:srgbClr val="222222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Next steps: [consolidate design, confirm sign-offs, schedule follow-ups]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7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A5CA8"/>
                </a:solidFill>
                <a:latin typeface="Calibri"/>
              </a:rPr>
              <a:t>SIGNATURE AVIATION    |    PM AND CM TOOLKIT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3000" b="1">
                <a:solidFill>
                  <a:srgbClr val="0C1A26"/>
                </a:solidFill>
                <a:latin typeface="Calibri"/>
              </a:rPr>
              <a:t>How to use this deck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300" b="1">
                <a:solidFill>
                  <a:srgbClr val="0A5CA8"/>
                </a:solidFill>
                <a:latin typeface="Calibri"/>
              </a:rPr>
              <a:t>Design Session Deck    |    Full tier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8308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A5CA8"/>
                </a:solidFill>
                <a:latin typeface="Calibri"/>
              </a:rPr>
              <a:t>What it is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250" b="0">
                <a:solidFill>
                  <a:srgbClr val="0C1A26"/>
                </a:solidFill>
                <a:latin typeface="Calibri"/>
              </a:rPr>
              <a:t>A deck to run a structured design working session.</a:t>
            </a:r>
          </a:p>
          <a:p>
            <a:pPr>
              <a:spcBef>
                <a:spcPts val="1000"/>
              </a:spcBef>
              <a:spcAft>
                <a:spcPts val="0"/>
              </a:spcAft>
            </a:pPr>
            <a:r>
              <a:rPr sz="1400" b="1">
                <a:solidFill>
                  <a:srgbClr val="0A5CA8"/>
                </a:solidFill>
                <a:latin typeface="Calibri"/>
              </a:rPr>
              <a:t>When to use it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250" b="0">
                <a:solidFill>
                  <a:srgbClr val="0C1A26"/>
                </a:solidFill>
                <a:latin typeface="Calibri"/>
              </a:rPr>
              <a:t>During design, to guide a workshop toward decisions.</a:t>
            </a:r>
          </a:p>
          <a:p>
            <a:pPr>
              <a:spcBef>
                <a:spcPts val="1000"/>
              </a:spcBef>
              <a:spcAft>
                <a:spcPts val="0"/>
              </a:spcAft>
            </a:pPr>
            <a:r>
              <a:rPr sz="1400" b="1">
                <a:solidFill>
                  <a:srgbClr val="0A5CA8"/>
                </a:solidFill>
                <a:latin typeface="Calibri"/>
              </a:rPr>
              <a:t>How to adapt it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250" b="0">
                <a:solidFill>
                  <a:srgbClr val="0C1A26"/>
                </a:solidFill>
                <a:latin typeface="Calibri"/>
              </a:rPr>
              <a:t>1.  Set the session outcome on the title slide.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250" b="0">
                <a:solidFill>
                  <a:srgbClr val="0C1A26"/>
                </a:solidFill>
                <a:latin typeface="Calibri"/>
              </a:rPr>
              <a:t>2.  Tailor each activity slide.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250" b="0">
                <a:solidFill>
                  <a:srgbClr val="0C1A26"/>
                </a:solidFill>
                <a:latin typeface="Calibri"/>
              </a:rPr>
              <a:t>3.  Time box and facilitate.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250" b="0">
                <a:solidFill>
                  <a:srgbClr val="0C1A26"/>
                </a:solidFill>
                <a:latin typeface="Calibri"/>
              </a:rPr>
              <a:t>4.  Capture decisions as you go.</a:t>
            </a:r>
          </a:p>
          <a:p>
            <a:pPr>
              <a:spcBef>
                <a:spcPts val="1000"/>
              </a:spcBef>
              <a:spcAft>
                <a:spcPts val="0"/>
              </a:spcAft>
            </a:pPr>
            <a:r>
              <a:rPr sz="1400" b="1">
                <a:solidFill>
                  <a:srgbClr val="0A5CA8"/>
                </a:solidFill>
                <a:latin typeface="Calibri"/>
              </a:rPr>
              <a:t>Time needed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250" b="0">
                <a:solidFill>
                  <a:srgbClr val="0C1A26"/>
                </a:solidFill>
                <a:latin typeface="Calibri"/>
              </a:rPr>
              <a:t>1 to 2 hours to adapt</a:t>
            </a:r>
          </a:p>
          <a:p>
            <a:pPr>
              <a:spcBef>
                <a:spcPts val="1000"/>
              </a:spcBef>
              <a:spcAft>
                <a:spcPts val="0"/>
              </a:spcAft>
            </a:pPr>
            <a:r>
              <a:rPr sz="1400" b="1">
                <a:solidFill>
                  <a:srgbClr val="0A5CA8"/>
                </a:solidFill>
                <a:latin typeface="Calibri"/>
              </a:rPr>
              <a:t>What good looks like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250" b="0">
                <a:solidFill>
                  <a:srgbClr val="0C1A26"/>
                </a:solidFill>
                <a:latin typeface="Calibri"/>
              </a:rPr>
              <a:t>A session that ends with documented design decisions.</a:t>
            </a:r>
          </a:p>
          <a:p>
            <a:pPr>
              <a:spcBef>
                <a:spcPts val="1000"/>
              </a:spcBef>
              <a:spcAft>
                <a:spcPts val="0"/>
              </a:spcAft>
            </a:pPr>
            <a:r>
              <a:rPr sz="1400" b="1">
                <a:solidFill>
                  <a:srgbClr val="0A5CA8"/>
                </a:solidFill>
                <a:latin typeface="Calibri"/>
              </a:rPr>
              <a:t>Related tools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250" b="0">
                <a:solidFill>
                  <a:srgbClr val="0C1A26"/>
                </a:solidFill>
                <a:latin typeface="Calibri"/>
              </a:rPr>
              <a:t>Workshop Agenda, Design Signoff, Requirements Tracker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