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62" r:id="rId24"/>
    <p:sldId id="257" r:id="rId7"/>
    <p:sldId id="258" r:id="rId8"/>
    <p:sldId id="259" r:id="rId9"/>
    <p:sldId id="260" r:id="rId10"/>
    <p:sldId id="261" r:id="rId11"/>
  </p:sldIdLst>
  <p:sldSz cy="6858000" cx="12191675"/>
  <p:notesSz cx="6858000" cy="12191675"/>
  <p:embeddedFontLst>
    <p:embeddedFont>
      <p:font typeface="Nunito Sans ExtraLight"/>
      <p:regular r:id="rId12"/>
      <p:bold r:id="rId13"/>
      <p:italic r:id="rId14"/>
      <p:boldItalic r:id="rId15"/>
    </p:embeddedFont>
    <p:embeddedFont>
      <p:font typeface="Nunito Sans"/>
      <p:regular r:id="rId16"/>
      <p:bold r:id="rId17"/>
      <p:italic r:id="rId18"/>
      <p:boldItalic r:id="rId19"/>
    </p:embeddedFon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F3DE26-9D56-4A3E-BAEC-58CF6418BA9B}">
  <a:tblStyle styleId="{1FF3DE26-9D56-4A3E-BAEC-58CF6418BA9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NunitoSansExtraLight-regular.fntdata"/><Relationship Id="rId13" Type="http://schemas.openxmlformats.org/officeDocument/2006/relationships/font" Target="fonts/NunitoSansExtraLight-bold.fntdata"/><Relationship Id="rId14" Type="http://schemas.openxmlformats.org/officeDocument/2006/relationships/font" Target="fonts/NunitoSansExtraLight-italic.fntdata"/><Relationship Id="rId15" Type="http://schemas.openxmlformats.org/officeDocument/2006/relationships/font" Target="fonts/NunitoSansExtraLight-boldItalic.fntdata"/><Relationship Id="rId16" Type="http://schemas.openxmlformats.org/officeDocument/2006/relationships/font" Target="fonts/NunitoSans-regular.fntdata"/><Relationship Id="rId17" Type="http://schemas.openxmlformats.org/officeDocument/2006/relationships/font" Target="fonts/NunitoSans-bold.fntdata"/><Relationship Id="rId18" Type="http://schemas.openxmlformats.org/officeDocument/2006/relationships/font" Target="fonts/NunitoSans-italic.fntdata"/><Relationship Id="rId19" Type="http://schemas.openxmlformats.org/officeDocument/2006/relationships/font" Target="fonts/NunitoSans-boldItalic.fntdata"/><Relationship Id="rId20" Type="http://schemas.openxmlformats.org/officeDocument/2006/relationships/font" Target="fonts/CenturyGothic-regular.fntdata"/><Relationship Id="rId21" Type="http://schemas.openxmlformats.org/officeDocument/2006/relationships/font" Target="fonts/CenturyGothic-bold.fntdata"/><Relationship Id="rId22" Type="http://schemas.openxmlformats.org/officeDocument/2006/relationships/font" Target="fonts/CenturyGothic-italic.fntdata"/><Relationship Id="rId23" Type="http://schemas.openxmlformats.org/officeDocument/2006/relationships/font" Target="fonts/CenturyGothic-boldItalic.fntdata"/><Relationship Id="rId2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d698a79a7_0_0:notes"/>
          <p:cNvSpPr txBox="1"/>
          <p:nvPr>
            <p:ph idx="1" type="body"/>
          </p:nvPr>
        </p:nvSpPr>
        <p:spPr>
          <a:xfrm>
            <a:off x="685800" y="5867244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ed698a79a7_0_0:notes"/>
          <p:cNvSpPr/>
          <p:nvPr>
            <p:ph idx="2" type="sldImg"/>
          </p:nvPr>
        </p:nvSpPr>
        <p:spPr>
          <a:xfrm>
            <a:off x="685876" y="1523959"/>
            <a:ext cx="5486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5574341"/>
            <a:ext cx="12191700" cy="128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>
            <p:ph type="ctrTitle"/>
          </p:nvPr>
        </p:nvSpPr>
        <p:spPr>
          <a:xfrm>
            <a:off x="1523959" y="1122363"/>
            <a:ext cx="9143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6200"/>
              <a:buFont typeface="Nunito Sans ExtraLight"/>
              <a:buChar char="●"/>
              <a:defRPr sz="6200">
                <a:solidFill>
                  <a:srgbClr val="BF9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523959" y="3602038"/>
            <a:ext cx="9143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6000"/>
              </a:buClr>
              <a:buSzPts val="2500"/>
              <a:buNone/>
              <a:defRPr sz="2500">
                <a:solidFill>
                  <a:srgbClr val="7F6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5528622"/>
            <a:ext cx="12191700" cy="4560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ctr" bIns="47400" lIns="94800" spcFirstLastPara="1" rIns="94800" wrap="square" tIns="47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 title="WF_icon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578" y="5618338"/>
            <a:ext cx="1462058" cy="10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3959" y="349365"/>
            <a:ext cx="91437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400" lIns="94800" spcFirstLastPara="1" rIns="94800" wrap="square" tIns="474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4100"/>
              <a:buFont typeface="Nunito Sans ExtraLight"/>
              <a:buNone/>
            </a:pPr>
            <a:r>
              <a:rPr lang="en-US" sz="4100">
                <a:solidFill>
                  <a:srgbClr val="9E7E38"/>
                </a:solidFill>
              </a:rPr>
              <a:t>&lt;INSERT NAME OF PROJECT&gt;</a:t>
            </a:r>
            <a:endParaRPr sz="4100"/>
          </a:p>
        </p:txBody>
      </p:sp>
      <p:sp>
        <p:nvSpPr>
          <p:cNvPr id="22" name="Google Shape;22;p4"/>
          <p:cNvSpPr txBox="1"/>
          <p:nvPr/>
        </p:nvSpPr>
        <p:spPr>
          <a:xfrm>
            <a:off x="1523959" y="5062441"/>
            <a:ext cx="8317500" cy="3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7F6000"/>
                </a:solidFill>
                <a:latin typeface="Nunito Sans ExtraLight"/>
                <a:ea typeface="Nunito Sans ExtraLight"/>
                <a:cs typeface="Nunito Sans ExtraLight"/>
                <a:sym typeface="Nunito Sans ExtraLight"/>
              </a:rPr>
              <a:t>Month Year</a:t>
            </a:r>
            <a:endParaRPr b="0" i="0" sz="1900" u="none" cap="none" strike="noStrike">
              <a:solidFill>
                <a:schemeClr val="dk1"/>
              </a:solidFill>
              <a:latin typeface="Nunito Sans ExtraLight"/>
              <a:ea typeface="Nunito Sans ExtraLight"/>
              <a:cs typeface="Nunito Sans ExtraLight"/>
              <a:sym typeface="Nunito Sans ExtraLight"/>
            </a:endParaRPr>
          </a:p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958674" y="2488350"/>
            <a:ext cx="107214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00" lIns="94800" spcFirstLastPara="1" rIns="94800" wrap="square" tIns="474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E7E38"/>
              </a:buClr>
              <a:buSzPts val="4600"/>
              <a:buNone/>
            </a:pPr>
            <a:r>
              <a:rPr b="1" lang="en-US" sz="3500">
                <a:solidFill>
                  <a:srgbClr val="9E7E38"/>
                </a:solidFill>
                <a:latin typeface="Nunito Sans"/>
                <a:ea typeface="Nunito Sans"/>
                <a:cs typeface="Nunito Sans"/>
                <a:sym typeface="Nunito Sans"/>
              </a:rPr>
              <a:t>Pre-Design Stakeholder Briefing </a:t>
            </a:r>
            <a:endParaRPr sz="3500">
              <a:solidFill>
                <a:srgbClr val="9E7E38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This Project, Why Now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5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5"/>
          <p:cNvSpPr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[Plain-language description of the gaps this project addresses.]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822960" y="22402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822960" y="2532888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[The future-state outcome in one or two sentences.]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822960" y="324612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entury Gothic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This Enables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822960" y="356616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[Benefit 1]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[Benefit 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[Benefit 3]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22960" y="640080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Template note: Keep it non-technical; this is an Awareness (change) deliverable for the broad stakeholder community.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Success Measures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6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6"/>
          <p:cNvSpPr/>
          <p:nvPr/>
        </p:nvSpPr>
        <p:spPr>
          <a:xfrm>
            <a:off x="1097280" y="137160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[Measurable target 1, for example a percentage or accuracy band]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[Measurable target 2]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[Measurable target 3]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[Measurable target 4]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Timeline &amp; Key Deliverables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7"/>
          <p:cNvSpPr/>
          <p:nvPr/>
        </p:nvSpPr>
        <p:spPr>
          <a:xfrm>
            <a:off x="1097280" y="137160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[Phase / month range]: [milestone or deliverable]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[Phase / month range]: [milestone or deliverable]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[Phase / month range]: [milestone or deliverable]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[Phase / month range]: [milestone or deliverable]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This Means for You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8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9" name="Google Shape;69;p8"/>
          <p:cNvGraphicFramePr/>
          <p:nvPr/>
        </p:nvGraphicFramePr>
        <p:xfrm>
          <a:off x="82296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{1FF3DE26-9D56-4A3E-BAEC-58CF6418BA9B}</a:tableStyleId>
              </a:tblPr>
              <a:tblGrid>
                <a:gridCol w="2743200"/>
                <a:gridCol w="3886200"/>
                <a:gridCol w="38862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Audience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changes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we need from you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[HR]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[change]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[ask]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[Finance]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[change]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[ask]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[Unit managers]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[change]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[ask]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EB8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0" y="1097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9E7E38"/>
                </a:solidFill>
                <a:latin typeface="Georgia"/>
                <a:ea typeface="Georgia"/>
                <a:cs typeface="Georgia"/>
                <a:sym typeface="Georgia"/>
              </a:rPr>
              <a:t>WF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822960" y="256032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entury Gothic"/>
              <a:buNone/>
            </a:pPr>
            <a:r>
              <a:rPr b="0" i="0" lang="en-US" sz="2600" u="none" cap="none" strike="noStrike">
                <a:solidFill>
                  <a:srgbClr val="9E7E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to Stay Informed &amp; Give Input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9"/>
          <p:cNvCxnSpPr/>
          <p:nvPr/>
        </p:nvCxnSpPr>
        <p:spPr>
          <a:xfrm>
            <a:off x="822960" y="896112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CEB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9"/>
          <p:cNvSpPr/>
          <p:nvPr/>
        </p:nvSpPr>
        <p:spPr>
          <a:xfrm>
            <a:off x="1097280" y="1371600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Updates: [channel and cadence, for example monthly email and intranet page]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Questions and feedback: [where to send]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Upcoming sessions: [Voice of the User, Design, training]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Project team contacts: [names / roles]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5CA8"/>
                </a:solidFill>
                <a:latin typeface="Calibri"/>
              </a:rPr>
              <a:t>SIGNATURE AVIATION    |    PM AND CM TOOLKIT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0C1A26"/>
                </a:solidFill>
                <a:latin typeface="Calibri"/>
              </a:rPr>
              <a:t>How to use this deck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0A5CA8"/>
                </a:solidFill>
                <a:latin typeface="Calibri"/>
              </a:rPr>
              <a:t>Pre-Design Stakeholder Briefing    |    Full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it is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briefing deck to prepare stakeholders before design begins.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When to use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Just before design, to set context and expectations.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How to adapt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1.  Set the project name and date.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2.  Tailor the context slides.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3.  Be clear on what input you need.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4.  Leave time for questions.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Time needed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 hour to adapt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good looks like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Stakeholders who arrive at design informed and ready to contribute.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Related tools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Stakeholder Interview Guide, Change Story One Pager, Workshop Agenda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