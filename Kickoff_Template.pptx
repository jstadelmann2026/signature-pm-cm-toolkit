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64" r:id="rId2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12191675"/>
  <p:embeddedFontLst>
    <p:embeddedFont>
      <p:font typeface="Nunito Sans ExtraLight"/>
      <p:regular r:id="rId14"/>
      <p:bold r:id="rId15"/>
      <p:italic r:id="rId16"/>
      <p:boldItalic r:id="rId17"/>
    </p:embeddedFont>
    <p:embeddedFont>
      <p:font typeface="Nunito Sans"/>
      <p:regular r:id="rId18"/>
      <p:bold r:id="rId19"/>
      <p:italic r:id="rId20"/>
      <p:boldItalic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CF5DA5-1315-4CD5-9E6A-7A95518D7C0B}">
  <a:tblStyle styleId="{B7CF5DA5-1315-4CD5-9E6A-7A95518D7C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NunitoSansExtraLight-regular.fntdata"/><Relationship Id="rId15" Type="http://schemas.openxmlformats.org/officeDocument/2006/relationships/font" Target="fonts/NunitoSansExtraLight-bold.fntdata"/><Relationship Id="rId16" Type="http://schemas.openxmlformats.org/officeDocument/2006/relationships/font" Target="fonts/NunitoSansExtraLight-italic.fntdata"/><Relationship Id="rId17" Type="http://schemas.openxmlformats.org/officeDocument/2006/relationships/font" Target="fonts/NunitoSansExtraLight-boldItalic.fntdata"/><Relationship Id="rId18" Type="http://schemas.openxmlformats.org/officeDocument/2006/relationships/font" Target="fonts/NunitoSans-regular.fntdata"/><Relationship Id="rId19" Type="http://schemas.openxmlformats.org/officeDocument/2006/relationships/font" Target="fonts/NunitoSans-bold.fntdata"/><Relationship Id="rId20" Type="http://schemas.openxmlformats.org/officeDocument/2006/relationships/font" Target="fonts/NunitoSans-italic.fntdata"/><Relationship Id="rId21" Type="http://schemas.openxmlformats.org/officeDocument/2006/relationships/font" Target="fonts/NunitoSans-boldItalic.fntdata"/><Relationship Id="rId22" Type="http://schemas.openxmlformats.org/officeDocument/2006/relationships/font" Target="fonts/CenturyGothic-regular.fntdata"/><Relationship Id="rId23" Type="http://schemas.openxmlformats.org/officeDocument/2006/relationships/font" Target="fonts/CenturyGothic-bold.fntdata"/><Relationship Id="rId24" Type="http://schemas.openxmlformats.org/officeDocument/2006/relationships/font" Target="fonts/CenturyGothic-italic.fntdata"/><Relationship Id="rId25" Type="http://schemas.openxmlformats.org/officeDocument/2006/relationships/font" Target="fonts/CenturyGothic-boldItalic.fntdata"/><Relationship Id="rId2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d69886261_0_0:notes"/>
          <p:cNvSpPr txBox="1"/>
          <p:nvPr>
            <p:ph idx="1" type="body"/>
          </p:nvPr>
        </p:nvSpPr>
        <p:spPr>
          <a:xfrm>
            <a:off x="685800" y="5867244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ed69886261_0_0:notes"/>
          <p:cNvSpPr/>
          <p:nvPr>
            <p:ph idx="2" type="sldImg"/>
          </p:nvPr>
        </p:nvSpPr>
        <p:spPr>
          <a:xfrm>
            <a:off x="685876" y="1523959"/>
            <a:ext cx="5486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5574341"/>
            <a:ext cx="12191700" cy="128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>
            <p:ph type="ctrTitle"/>
          </p:nvPr>
        </p:nvSpPr>
        <p:spPr>
          <a:xfrm>
            <a:off x="1523959" y="1122363"/>
            <a:ext cx="9143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200"/>
              <a:buFont typeface="Nunito Sans ExtraLight"/>
              <a:buChar char="●"/>
              <a:defRPr sz="6200">
                <a:solidFill>
                  <a:srgbClr val="BF9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523959" y="3602038"/>
            <a:ext cx="9143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6000"/>
              </a:buClr>
              <a:buSzPts val="2500"/>
              <a:buNone/>
              <a:defRPr sz="2500">
                <a:solidFill>
                  <a:srgbClr val="7F6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5528622"/>
            <a:ext cx="12191700" cy="456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 title="WF_icon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578" y="5618338"/>
            <a:ext cx="1462058" cy="10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3959" y="349365"/>
            <a:ext cx="9143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4100"/>
              <a:buFont typeface="Nunito Sans ExtraLight"/>
              <a:buNone/>
            </a:pPr>
            <a:r>
              <a:rPr lang="en-US" sz="4100">
                <a:solidFill>
                  <a:srgbClr val="9E7E38"/>
                </a:solidFill>
              </a:rPr>
              <a:t>&lt;INSERT NAME OF PROJECT&gt;</a:t>
            </a:r>
            <a:endParaRPr sz="4100"/>
          </a:p>
        </p:txBody>
      </p:sp>
      <p:sp>
        <p:nvSpPr>
          <p:cNvPr id="22" name="Google Shape;22;p4"/>
          <p:cNvSpPr txBox="1"/>
          <p:nvPr/>
        </p:nvSpPr>
        <p:spPr>
          <a:xfrm>
            <a:off x="1523959" y="5062441"/>
            <a:ext cx="8317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F6000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rPr>
              <a:t>Month Year</a:t>
            </a:r>
            <a:endParaRPr b="0" i="0" sz="1900" u="none" cap="none" strike="noStrike">
              <a:solidFill>
                <a:schemeClr val="dk1"/>
              </a:solidFill>
              <a:latin typeface="Nunito Sans ExtraLight"/>
              <a:ea typeface="Nunito Sans ExtraLight"/>
              <a:cs typeface="Nunito Sans ExtraLight"/>
              <a:sym typeface="Nunito Sans ExtraLight"/>
            </a:endParaRPr>
          </a:p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958674" y="2488350"/>
            <a:ext cx="10721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E7E38"/>
              </a:buClr>
              <a:buSzPts val="4600"/>
              <a:buNone/>
            </a:pPr>
            <a:r>
              <a:rPr b="1" lang="en-US" sz="3500">
                <a:solidFill>
                  <a:srgbClr val="9E7E38"/>
                </a:solidFill>
                <a:latin typeface="Nunito Sans"/>
                <a:ea typeface="Nunito Sans"/>
                <a:cs typeface="Nunito Sans"/>
                <a:sym typeface="Nunito Sans"/>
              </a:rPr>
              <a:t>Kickoff Meeting</a:t>
            </a:r>
            <a:endParaRPr sz="3500">
              <a:solidFill>
                <a:srgbClr val="9E7E38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Today's Agenda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5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5"/>
          <p:cNvSpPr/>
          <p:nvPr/>
        </p:nvSpPr>
        <p:spPr>
          <a:xfrm>
            <a:off x="1097280" y="146304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Review Project Charter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Introduce Project Workstreams and Roles &amp; Responsibilities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Program Governance &amp; Engagement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Timeline &amp; Key Deliverables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Kickoff is presented to the broader project team to align on charter, roles, governance, and timeline.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Charter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6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6"/>
          <p:cNvSpPr/>
          <p:nvPr/>
        </p:nvSpPr>
        <p:spPr>
          <a:xfrm>
            <a:off x="822960" y="10972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Purpose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 (2 to 3 sentences: the problem this solves and why it matters)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822960" y="13716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[Describe the problem this project solves and the outcome it enables. Keep it to 2 to 3 sentences.]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22960" y="2148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Scope / Key Deliverables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22960" y="2468880"/>
            <a:ext cx="7680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 1]: [clear outcome statement]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 2]: [clear outcome statement]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 3]: [clear outcome statement]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 4]: [clear outcome statement]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[Change management and adoption]: [outcome]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[Sustainment and governance]: [outcome]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22960" y="45262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 of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22960" y="48463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[Explicitly list what this project does NOT cover, one per line, to prevent scope creep]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[Out of scope item]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[Out of scope item]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6"/>
          <p:cNvCxnSpPr/>
          <p:nvPr/>
        </p:nvCxnSpPr>
        <p:spPr>
          <a:xfrm>
            <a:off x="8869680" y="1097280"/>
            <a:ext cx="0" cy="4937760"/>
          </a:xfrm>
          <a:prstGeom prst="straightConnector1">
            <a:avLst/>
          </a:prstGeom>
          <a:noFill/>
          <a:ln cap="flat" cmpd="sng" w="15875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6"/>
          <p:cNvSpPr/>
          <p:nvPr/>
        </p:nvSpPr>
        <p:spPr>
          <a:xfrm>
            <a:off x="9144000" y="1097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Executive Sponsors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9144000" y="13716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[Name], 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9144000" y="17190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System / Project Leads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144000" y="199339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[Name], 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9144000" y="2397425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Transformation / Change 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9144000" y="2742446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9144000" y="296265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Functional / Workstream Leads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9144000" y="323697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[Workstream]: 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[Workstream]: 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[Workstream]: 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9144000" y="398678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144000" y="426110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[PM 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Charter Supplement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7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7"/>
          <p:cNvSpPr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Statement (what are we solving?)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[Describe the visibility, control, process, or alignment gaps this project addresses.]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822960" y="22860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822960" y="257860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[State the target operating model or outcome in one or two sentences.]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822960" y="34747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This Enables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822960" y="379476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[Benefit 1]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[Benefit 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[Benefit 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[Benefit 4]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Workstreams, Roles &amp; Responsibilities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8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5" name="Google Shape;85;p8"/>
          <p:cNvGraphicFramePr/>
          <p:nvPr/>
        </p:nvGraphicFramePr>
        <p:xfrm>
          <a:off x="82296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{B7CF5DA5-1315-4CD5-9E6A-7A95518D7C0B}</a:tableStyleId>
              </a:tblPr>
              <a:tblGrid>
                <a:gridCol w="2743200"/>
                <a:gridCol w="2103125"/>
                <a:gridCol w="56692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Workstream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Responsibilities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[Workstream 1]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 this stream owns and delivers]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[Workstream 2]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 this stream owns and delivers]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[Workstream 3]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 this stream owns and delivers]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[Change &amp; adoption]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[Stakeholder engagement, comms, training]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[Project management]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[Plan, RAID, action &amp; decision log, reporting]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 Governance &amp; Engagement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9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9"/>
          <p:cNvSpPr/>
          <p:nvPr/>
        </p:nvSpPr>
        <p:spPr>
          <a:xfrm>
            <a:off x="1097280" y="1371600"/>
            <a:ext cx="9601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Sponsors: approve scope, budget, and phase gates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Steering / project leads: own cross-workstream decisions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Workstream leads: deliver their scope and raise risks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Change lead: stakeholder engagement, comms, and training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Cadence: [steering frequency], [team frequency], [stakeholder updates]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Escalation path: [who, and how decisions get logged]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Timeline &amp; Key Deliverables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0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0"/>
          <p:cNvSpPr/>
          <p:nvPr/>
        </p:nvSpPr>
        <p:spPr>
          <a:xfrm>
            <a:off x="822960" y="2377440"/>
            <a:ext cx="1371600" cy="640080"/>
          </a:xfrm>
          <a:prstGeom prst="roundRect">
            <a:avLst>
              <a:gd fmla="val 857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822960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777240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[dates]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777240" y="31089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deliverable]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2340864" y="2377440"/>
            <a:ext cx="1371600" cy="640080"/>
          </a:xfrm>
          <a:prstGeom prst="roundRect">
            <a:avLst>
              <a:gd fmla="val 8571" name="adj"/>
            </a:avLst>
          </a:prstGeom>
          <a:solidFill>
            <a:srgbClr val="9E7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2340864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2295144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[dates]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95144" y="31089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deliverable]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3858768" y="2377440"/>
            <a:ext cx="1371600" cy="640080"/>
          </a:xfrm>
          <a:prstGeom prst="roundRect">
            <a:avLst>
              <a:gd fmla="val 857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3858768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3813048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[dates]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3813048" y="31089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deliverable]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5376672" y="2377440"/>
            <a:ext cx="1371600" cy="640080"/>
          </a:xfrm>
          <a:prstGeom prst="roundRect">
            <a:avLst>
              <a:gd fmla="val 8571" name="adj"/>
            </a:avLst>
          </a:prstGeom>
          <a:solidFill>
            <a:srgbClr val="9E7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5376672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5330952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[dates]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5330952" y="31089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deliverable]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6894576" y="2377440"/>
            <a:ext cx="1371600" cy="640080"/>
          </a:xfrm>
          <a:prstGeom prst="roundRect">
            <a:avLst>
              <a:gd fmla="val 857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6894576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6848856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[dates]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6848856" y="31089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deliverable]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8412480" y="2377440"/>
            <a:ext cx="1371600" cy="640080"/>
          </a:xfrm>
          <a:prstGeom prst="roundRect">
            <a:avLst>
              <a:gd fmla="val 8571" name="adj"/>
            </a:avLst>
          </a:prstGeom>
          <a:solidFill>
            <a:srgbClr val="9E7E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8412480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8366760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[dates]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8366760" y="31089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deliverable]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9930384" y="2377440"/>
            <a:ext cx="1371600" cy="640080"/>
          </a:xfrm>
          <a:prstGeom prst="roundRect">
            <a:avLst>
              <a:gd fmla="val 8571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9930384" y="2377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9884664" y="20116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[dates]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9884664" y="31089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deliverable]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Replace dates and the 1 to 3 key deliverables per phase.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Q&amp;A and Next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1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1"/>
          <p:cNvSpPr/>
          <p:nvPr/>
        </p:nvSpPr>
        <p:spPr>
          <a:xfrm>
            <a:off x="1097280" y="1463040"/>
            <a:ext cx="9601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[Next step 1, with owner and date]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[Next step 2]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[How and where questions are tracked: action &amp; decision log]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5CA8"/>
                </a:solidFill>
                <a:latin typeface="Calibri"/>
              </a:rPr>
              <a:t>SIGNATURE AVIATION    |    PM AND CM TOOLKIT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0C1A26"/>
                </a:solidFill>
                <a:latin typeface="Calibri"/>
              </a:rPr>
              <a:t>How to use this deck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0A5CA8"/>
                </a:solidFill>
                <a:latin typeface="Calibri"/>
              </a:rPr>
              <a:t>Kickoff Deck    |    Full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it is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project kickoff deck to align the team and stakeholders at the start.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When to use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At project start, for the first full team and stakeholder meeting.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How to adapt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1.  Replace the project name and date.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2.  Fill each section with your project's content.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3.  Cut slides you do not need.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4.  Rehearse the flow before presenting.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Time needed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 to 2 hours to adapt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good looks like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room that leaves aligned on why, what, and who.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Related tools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Project Charter, Change Story One Pager, Sponsor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