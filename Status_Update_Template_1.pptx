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7E38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9E7E38"/>
                </a:solidFill>
                <a:latin typeface="Calibri"/>
                <a:ea typeface="Calibri"/>
                <a:cs typeface="Calibri"/>
                <a:sym typeface="Calibri"/>
              </a:rPr>
              <a:t>[Project name]</a:t>
            </a:r>
            <a:r>
              <a:rPr b="0" i="0" lang="en-US" sz="2600" u="none" cap="none" strike="noStrike">
                <a:solidFill>
                  <a:srgbClr val="9E7E38"/>
                </a:solidFill>
                <a:latin typeface="Calibri"/>
                <a:ea typeface="Calibri"/>
                <a:cs typeface="Calibri"/>
                <a:sym typeface="Calibri"/>
              </a:rPr>
              <a:t>  |  Project Status Update  [MM/DD/YYYY]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0" y="749808"/>
            <a:ext cx="121889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Key Milestones &amp; Timeline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01752" y="1353312"/>
            <a:ext cx="310896" cy="457200"/>
          </a:xfrm>
          <a:prstGeom prst="ellipse">
            <a:avLst/>
          </a:prstGeom>
          <a:solidFill>
            <a:srgbClr val="6E4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1576304" y="1353312"/>
            <a:ext cx="310896" cy="457200"/>
          </a:xfrm>
          <a:prstGeom prst="ellipse">
            <a:avLst/>
          </a:prstGeom>
          <a:solidFill>
            <a:srgbClr val="4F7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7200" y="1353312"/>
            <a:ext cx="1610650" cy="457200"/>
          </a:xfrm>
          <a:prstGeom prst="rect">
            <a:avLst/>
          </a:prstGeom>
          <a:solidFill>
            <a:srgbClr val="6E4A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57200" y="1353312"/>
            <a:ext cx="1610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[Month 1]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[Weeks]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93776" y="1883664"/>
            <a:ext cx="155578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[Key milestone or deliverable]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067850" y="1353312"/>
            <a:ext cx="1610650" cy="457200"/>
          </a:xfrm>
          <a:prstGeom prst="rect">
            <a:avLst/>
          </a:prstGeom>
          <a:solidFill>
            <a:srgbClr val="A266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067850" y="1353312"/>
            <a:ext cx="1610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[Month 2]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[Weeks]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104426" y="1883664"/>
            <a:ext cx="155578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[Key milestone or deliverable]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678501" y="1353312"/>
            <a:ext cx="1610650" cy="457200"/>
          </a:xfrm>
          <a:prstGeom prst="rect">
            <a:avLst/>
          </a:prstGeom>
          <a:solidFill>
            <a:srgbClr val="D985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3678501" y="1353312"/>
            <a:ext cx="1610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[Month 3]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[Weeks]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3715077" y="1883664"/>
            <a:ext cx="155578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[Key milestone or deliverable]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5289151" y="1353312"/>
            <a:ext cx="1610650" cy="457200"/>
          </a:xfrm>
          <a:prstGeom prst="rect">
            <a:avLst/>
          </a:prstGeom>
          <a:solidFill>
            <a:srgbClr val="E6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5289151" y="1353312"/>
            <a:ext cx="1610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[Month 4]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[Weeks]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325727" y="1883664"/>
            <a:ext cx="155578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[Key milestone or deliverable]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899801" y="1353312"/>
            <a:ext cx="1610650" cy="457200"/>
          </a:xfrm>
          <a:prstGeom prst="rect">
            <a:avLst/>
          </a:prstGeom>
          <a:solidFill>
            <a:srgbClr val="EAC9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6899801" y="1353312"/>
            <a:ext cx="1610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[Month 5]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[Weeks]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6936377" y="1883664"/>
            <a:ext cx="155578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[Key milestone or deliverable]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8510451" y="1353312"/>
            <a:ext cx="1610650" cy="457200"/>
          </a:xfrm>
          <a:prstGeom prst="rect">
            <a:avLst/>
          </a:prstGeom>
          <a:solidFill>
            <a:srgbClr val="B6B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8510451" y="1353312"/>
            <a:ext cx="1610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[Month 6]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[Weeks]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547027" y="1883664"/>
            <a:ext cx="155578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[Key milestone or deliverable]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10121102" y="1353312"/>
            <a:ext cx="1610650" cy="457200"/>
          </a:xfrm>
          <a:prstGeom prst="rect">
            <a:avLst/>
          </a:prstGeom>
          <a:solidFill>
            <a:srgbClr val="4F7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10121102" y="1353312"/>
            <a:ext cx="1610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[Month 7]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[Weeks]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10157678" y="1883664"/>
            <a:ext cx="155578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2700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00"/>
              <a:buFont typeface="Calibri"/>
              <a:buChar char="•"/>
            </a:pPr>
            <a:r>
              <a:rPr b="0" i="0" lang="en-US" sz="8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[Key milestone or deliverable]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1402568" y="1353312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2056877" y="1207008"/>
            <a:ext cx="21946" cy="731520"/>
          </a:xfrm>
          <a:prstGeom prst="rect">
            <a:avLst/>
          </a:prstGeom>
          <a:solidFill>
            <a:srgbClr val="D93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1244890" y="969264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36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9362B"/>
                </a:solidFill>
                <a:latin typeface="Calibri"/>
                <a:ea typeface="Calibri"/>
                <a:cs typeface="Calibri"/>
                <a:sym typeface="Calibri"/>
              </a:rPr>
              <a:t>We are here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4434840" y="3127248"/>
            <a:ext cx="1280160" cy="27432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4434840" y="312724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Overall Status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493776" y="3401568"/>
            <a:ext cx="3886200" cy="239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This Report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997196" y="3443630"/>
            <a:ext cx="155448" cy="155448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3"/>
          <p:cNvCxnSpPr/>
          <p:nvPr/>
        </p:nvCxnSpPr>
        <p:spPr>
          <a:xfrm>
            <a:off x="457200" y="3641141"/>
            <a:ext cx="52578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" name="Google Shape;49;p3"/>
          <p:cNvCxnSpPr/>
          <p:nvPr/>
        </p:nvCxnSpPr>
        <p:spPr>
          <a:xfrm>
            <a:off x="4434840" y="3401568"/>
            <a:ext cx="0" cy="239573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3"/>
          <p:cNvSpPr/>
          <p:nvPr/>
        </p:nvSpPr>
        <p:spPr>
          <a:xfrm>
            <a:off x="493776" y="3641141"/>
            <a:ext cx="3886200" cy="239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Last Report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997196" y="3683203"/>
            <a:ext cx="155448" cy="155448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" name="Google Shape;52;p3"/>
          <p:cNvCxnSpPr/>
          <p:nvPr/>
        </p:nvCxnSpPr>
        <p:spPr>
          <a:xfrm>
            <a:off x="457200" y="3880714"/>
            <a:ext cx="52578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" name="Google Shape;53;p3"/>
          <p:cNvCxnSpPr/>
          <p:nvPr/>
        </p:nvCxnSpPr>
        <p:spPr>
          <a:xfrm>
            <a:off x="4434840" y="3641141"/>
            <a:ext cx="0" cy="239573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3"/>
          <p:cNvSpPr/>
          <p:nvPr/>
        </p:nvSpPr>
        <p:spPr>
          <a:xfrm>
            <a:off x="457200" y="3880714"/>
            <a:ext cx="3977640" cy="246888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4434840" y="3880714"/>
            <a:ext cx="1280160" cy="246888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566928" y="3880714"/>
            <a:ext cx="37947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Workstreams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93776" y="4127602"/>
            <a:ext cx="3886200" cy="239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[Workstream 1]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997196" y="4169664"/>
            <a:ext cx="155448" cy="155448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" name="Google Shape;59;p3"/>
          <p:cNvCxnSpPr/>
          <p:nvPr/>
        </p:nvCxnSpPr>
        <p:spPr>
          <a:xfrm>
            <a:off x="457200" y="4367174"/>
            <a:ext cx="52578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3"/>
          <p:cNvCxnSpPr/>
          <p:nvPr/>
        </p:nvCxnSpPr>
        <p:spPr>
          <a:xfrm>
            <a:off x="4434840" y="4127602"/>
            <a:ext cx="0" cy="239573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3"/>
          <p:cNvSpPr/>
          <p:nvPr/>
        </p:nvSpPr>
        <p:spPr>
          <a:xfrm>
            <a:off x="493776" y="4367174"/>
            <a:ext cx="3886200" cy="239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[Workstream 2]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997196" y="4409237"/>
            <a:ext cx="155448" cy="155448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" name="Google Shape;63;p3"/>
          <p:cNvCxnSpPr/>
          <p:nvPr/>
        </p:nvCxnSpPr>
        <p:spPr>
          <a:xfrm>
            <a:off x="457200" y="4606747"/>
            <a:ext cx="52578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3"/>
          <p:cNvCxnSpPr/>
          <p:nvPr/>
        </p:nvCxnSpPr>
        <p:spPr>
          <a:xfrm>
            <a:off x="4434840" y="4367174"/>
            <a:ext cx="0" cy="239573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3"/>
          <p:cNvSpPr/>
          <p:nvPr/>
        </p:nvSpPr>
        <p:spPr>
          <a:xfrm>
            <a:off x="493776" y="4606747"/>
            <a:ext cx="3886200" cy="239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[Workstream 3]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997196" y="4648810"/>
            <a:ext cx="155448" cy="155448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" name="Google Shape;67;p3"/>
          <p:cNvCxnSpPr/>
          <p:nvPr/>
        </p:nvCxnSpPr>
        <p:spPr>
          <a:xfrm>
            <a:off x="457200" y="4846320"/>
            <a:ext cx="52578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3"/>
          <p:cNvCxnSpPr/>
          <p:nvPr/>
        </p:nvCxnSpPr>
        <p:spPr>
          <a:xfrm>
            <a:off x="4434840" y="4606747"/>
            <a:ext cx="0" cy="239573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3"/>
          <p:cNvSpPr/>
          <p:nvPr/>
        </p:nvSpPr>
        <p:spPr>
          <a:xfrm>
            <a:off x="493776" y="4846320"/>
            <a:ext cx="3886200" cy="239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[Workstream 4]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997196" y="4888382"/>
            <a:ext cx="155448" cy="155448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" name="Google Shape;71;p3"/>
          <p:cNvCxnSpPr/>
          <p:nvPr/>
        </p:nvCxnSpPr>
        <p:spPr>
          <a:xfrm>
            <a:off x="457200" y="5085893"/>
            <a:ext cx="52578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3"/>
          <p:cNvCxnSpPr/>
          <p:nvPr/>
        </p:nvCxnSpPr>
        <p:spPr>
          <a:xfrm>
            <a:off x="4434840" y="4846320"/>
            <a:ext cx="0" cy="239573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3"/>
          <p:cNvSpPr/>
          <p:nvPr/>
        </p:nvSpPr>
        <p:spPr>
          <a:xfrm>
            <a:off x="493776" y="5085893"/>
            <a:ext cx="3886200" cy="239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[Workstream 5]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997196" y="5127955"/>
            <a:ext cx="155448" cy="155448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5" name="Google Shape;75;p3"/>
          <p:cNvCxnSpPr/>
          <p:nvPr/>
        </p:nvCxnSpPr>
        <p:spPr>
          <a:xfrm>
            <a:off x="457200" y="5325466"/>
            <a:ext cx="52578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3"/>
          <p:cNvCxnSpPr/>
          <p:nvPr/>
        </p:nvCxnSpPr>
        <p:spPr>
          <a:xfrm>
            <a:off x="4434840" y="5085893"/>
            <a:ext cx="0" cy="239573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3"/>
          <p:cNvSpPr/>
          <p:nvPr/>
        </p:nvSpPr>
        <p:spPr>
          <a:xfrm>
            <a:off x="493776" y="5325466"/>
            <a:ext cx="3886200" cy="239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[Workstream 6]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997196" y="5367528"/>
            <a:ext cx="155448" cy="155448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" name="Google Shape;79;p3"/>
          <p:cNvCxnSpPr/>
          <p:nvPr/>
        </p:nvCxnSpPr>
        <p:spPr>
          <a:xfrm>
            <a:off x="457200" y="5565038"/>
            <a:ext cx="52578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" name="Google Shape;80;p3"/>
          <p:cNvCxnSpPr/>
          <p:nvPr/>
        </p:nvCxnSpPr>
        <p:spPr>
          <a:xfrm>
            <a:off x="4434840" y="5325466"/>
            <a:ext cx="0" cy="239573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3"/>
          <p:cNvSpPr/>
          <p:nvPr/>
        </p:nvSpPr>
        <p:spPr>
          <a:xfrm>
            <a:off x="493776" y="5565038"/>
            <a:ext cx="3886200" cy="2395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[Workstream 7]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997196" y="5607101"/>
            <a:ext cx="155448" cy="155448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3"/>
          <p:cNvCxnSpPr/>
          <p:nvPr/>
        </p:nvCxnSpPr>
        <p:spPr>
          <a:xfrm>
            <a:off x="457200" y="5804611"/>
            <a:ext cx="52578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3"/>
          <p:cNvCxnSpPr/>
          <p:nvPr/>
        </p:nvCxnSpPr>
        <p:spPr>
          <a:xfrm>
            <a:off x="4434840" y="5565038"/>
            <a:ext cx="0" cy="239573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3"/>
          <p:cNvSpPr/>
          <p:nvPr/>
        </p:nvSpPr>
        <p:spPr>
          <a:xfrm>
            <a:off x="457200" y="3127248"/>
            <a:ext cx="5257800" cy="2677363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5943600" y="3127248"/>
            <a:ext cx="5833872" cy="310896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6053328" y="3127248"/>
            <a:ext cx="56509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period's accomplishments  /  Update [Month DD, YYYY]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943600" y="3438144"/>
            <a:ext cx="5833872" cy="2304288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6089904" y="3529584"/>
            <a:ext cx="5559552" cy="2139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[Completed item]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[Completed item]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[Completed item]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[Completed item]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[In-progress item]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[In-progress item]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[In-progress item]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[In-progress item]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57200" y="5870448"/>
            <a:ext cx="11274552" cy="29260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566928" y="5870448"/>
            <a:ext cx="110916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Risks / Issues / Concerns / Support / Decision Needed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57200" y="6163056"/>
            <a:ext cx="11274552" cy="457200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566928" y="6181344"/>
            <a:ext cx="1104595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[Low / Medium / High] Risk:  </a:t>
            </a: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[Describe the risk, issue, or decision needed, the impact, and what the team is doing about it. Name any support or decision you need from the sponsor, and by when.]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7040880" y="6675120"/>
            <a:ext cx="128016" cy="128016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7205472" y="663854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Not Started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8001000" y="6675120"/>
            <a:ext cx="128016" cy="128016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8165592" y="663854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On Track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8961120" y="6675120"/>
            <a:ext cx="128016" cy="128016"/>
          </a:xfrm>
          <a:prstGeom prst="ellipse">
            <a:avLst/>
          </a:prstGeom>
          <a:solidFill>
            <a:srgbClr val="F2C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9125712" y="663854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At Risk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9921240" y="6675120"/>
            <a:ext cx="128016" cy="128016"/>
          </a:xfrm>
          <a:prstGeom prst="ellipse">
            <a:avLst/>
          </a:prstGeom>
          <a:solidFill>
            <a:srgbClr val="D93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10085832" y="663854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Off Track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10881360" y="6675120"/>
            <a:ext cx="128016" cy="128016"/>
          </a:xfrm>
          <a:prstGeom prst="ellipse">
            <a:avLst/>
          </a:prstGeom>
          <a:solidFill>
            <a:srgbClr val="4A82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11045952" y="663854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A5CA8"/>
                </a:solidFill>
                <a:latin typeface="Calibri"/>
              </a:rPr>
              <a:t>SIGNATURE AVIATION    |    PM AND CM TOOLKIT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3000" b="1">
                <a:solidFill>
                  <a:srgbClr val="0C1A26"/>
                </a:solidFill>
                <a:latin typeface="Calibri"/>
              </a:rPr>
              <a:t>How to use this deck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300" b="1">
                <a:solidFill>
                  <a:srgbClr val="0A5CA8"/>
                </a:solidFill>
                <a:latin typeface="Calibri"/>
              </a:rPr>
              <a:t>Status Update    |    Full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What it is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A single slide status update covering milestones, risks, and asks.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When to use it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On your regular reporting cadence.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How to adapt it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1.  Update milestones and timeline.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2.  Note risks and decisions needed.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3.  Keep it to the one slide.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4.  Send on a set cadence.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Time needed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20 minutes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What good looks like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A glanceable update that prompts the right decisions.</a:t>
            </a:r>
          </a:p>
          <a:p>
            <a:pPr>
              <a:spcBef>
                <a:spcPts val="1000"/>
              </a:spcBef>
              <a:spcAft>
                <a:spcPts val="0"/>
              </a:spcAft>
            </a:pPr>
            <a:r>
              <a:rPr sz="1400" b="1">
                <a:solidFill>
                  <a:srgbClr val="0A5CA8"/>
                </a:solidFill>
                <a:latin typeface="Calibri"/>
              </a:rPr>
              <a:t>Related tools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50" b="0">
                <a:solidFill>
                  <a:srgbClr val="0C1A26"/>
                </a:solidFill>
                <a:latin typeface="Calibri"/>
              </a:rPr>
              <a:t>Executive Summary, Sponsor Review deck, RAID Log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